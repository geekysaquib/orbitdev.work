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211"/>
        </a:solidFill>
      </p:bgPr>
    </p:bg>
    <p:spTree>
      <p:nvGrpSpPr>
        <p:cNvPr id="1" name=""/>
        <p:cNvGrpSpPr/>
        <p:nvPr/>
      </p:nvGrpSpPr>
      <p:grpSpPr>
        <a:xfrm>
          <a:off x="0" y="0"/>
          <a:ext cx="0" cy="0"/>
          <a:chOff x="0" y="0"/>
          <a:chExt cx="0" cy="0"/>
        </a:xfrm>
      </p:grpSpPr>
      <p:sp>
        <p:nvSpPr>
          <p:cNvPr id="2" name="Shape 0"/>
          <p:cNvSpPr/>
          <p:nvPr/>
        </p:nvSpPr>
        <p:spPr>
          <a:xfrm>
            <a:off x="5570068" y="1687068"/>
            <a:ext cx="1051560" cy="1051560"/>
          </a:xfrm>
          <a:prstGeom prst="ellipse">
            <a:avLst/>
          </a:prstGeom>
          <a:solidFill>
            <a:srgbClr val="0C1211"/>
          </a:solidFill>
          <a:ln w="20320">
            <a:solidFill>
              <a:srgbClr val="3ADFA2"/>
            </a:solidFill>
            <a:prstDash val="solid"/>
          </a:ln>
        </p:spPr>
      </p:sp>
      <p:sp>
        <p:nvSpPr>
          <p:cNvPr id="3" name="Shape 1"/>
          <p:cNvSpPr/>
          <p:nvPr/>
        </p:nvSpPr>
        <p:spPr>
          <a:xfrm>
            <a:off x="5938114" y="2055114"/>
            <a:ext cx="315468" cy="315468"/>
          </a:xfrm>
          <a:prstGeom prst="ellipse">
            <a:avLst/>
          </a:prstGeom>
          <a:solidFill>
            <a:srgbClr val="3ADFA2"/>
          </a:solidFill>
          <a:ln/>
        </p:spPr>
      </p:sp>
      <p:sp>
        <p:nvSpPr>
          <p:cNvPr id="4" name="Shape 2"/>
          <p:cNvSpPr/>
          <p:nvPr/>
        </p:nvSpPr>
        <p:spPr>
          <a:xfrm>
            <a:off x="6378191" y="1751739"/>
            <a:ext cx="178765" cy="178765"/>
          </a:xfrm>
          <a:prstGeom prst="ellipse">
            <a:avLst/>
          </a:prstGeom>
          <a:solidFill>
            <a:srgbClr val="3ADFA2"/>
          </a:solidFill>
          <a:ln w="15240">
            <a:solidFill>
              <a:srgbClr val="0C1211"/>
            </a:solidFill>
            <a:prstDash val="solid"/>
          </a:ln>
        </p:spPr>
      </p:sp>
      <p:sp>
        <p:nvSpPr>
          <p:cNvPr id="5" name="Text 3"/>
          <p:cNvSpPr/>
          <p:nvPr/>
        </p:nvSpPr>
        <p:spPr>
          <a:xfrm>
            <a:off x="0" y="2971800"/>
            <a:ext cx="12191695" cy="786384"/>
          </a:xfrm>
          <a:prstGeom prst="rect">
            <a:avLst/>
          </a:prstGeom>
          <a:noFill/>
          <a:ln/>
        </p:spPr>
        <p:txBody>
          <a:bodyPr wrap="square" rtlCol="0" anchor="ctr"/>
          <a:lstStyle/>
          <a:p>
            <a:pPr algn="ctr" indent="0" marL="0">
              <a:buNone/>
            </a:pPr>
            <a:r>
              <a:rPr lang="en-US" sz="4600" dirty="0">
                <a:solidFill>
                  <a:srgbClr val="FFFFFF"/>
                </a:solidFill>
                <a:latin typeface="Segoe UI Semibold" pitchFamily="34" charset="0"/>
                <a:ea typeface="Segoe UI Semibold" pitchFamily="34" charset="-122"/>
                <a:cs typeface="Segoe UI Semibold" pitchFamily="34" charset="-120"/>
              </a:rPr>
              <a:t>ORBIT</a:t>
            </a:r>
            <a:endParaRPr lang="en-US" sz="4600" dirty="0"/>
          </a:p>
        </p:txBody>
      </p:sp>
      <p:sp>
        <p:nvSpPr>
          <p:cNvPr id="6" name="Shape 4"/>
          <p:cNvSpPr/>
          <p:nvPr/>
        </p:nvSpPr>
        <p:spPr>
          <a:xfrm>
            <a:off x="5547208" y="3803904"/>
            <a:ext cx="1097280" cy="25603"/>
          </a:xfrm>
          <a:prstGeom prst="rect">
            <a:avLst/>
          </a:prstGeom>
          <a:solidFill>
            <a:srgbClr val="3ADFA2"/>
          </a:solidFill>
          <a:ln/>
        </p:spPr>
      </p:sp>
      <p:sp>
        <p:nvSpPr>
          <p:cNvPr id="7" name="Text 5"/>
          <p:cNvSpPr/>
          <p:nvPr/>
        </p:nvSpPr>
        <p:spPr>
          <a:xfrm>
            <a:off x="0" y="4005072"/>
            <a:ext cx="12191695" cy="347472"/>
          </a:xfrm>
          <a:prstGeom prst="rect">
            <a:avLst/>
          </a:prstGeom>
          <a:noFill/>
          <a:ln/>
        </p:spPr>
        <p:txBody>
          <a:bodyPr wrap="square" rtlCol="0" anchor="ctr"/>
          <a:lstStyle/>
          <a:p>
            <a:pPr algn="ctr" indent="0" marL="0">
              <a:buNone/>
            </a:pPr>
            <a:r>
              <a:rPr lang="en-US" sz="1600" dirty="0">
                <a:solidFill>
                  <a:srgbClr val="3ADFA2"/>
                </a:solidFill>
                <a:latin typeface="Segoe UI" pitchFamily="34" charset="0"/>
                <a:ea typeface="Segoe UI" pitchFamily="34" charset="-122"/>
                <a:cs typeface="Segoe UI" pitchFamily="34" charset="-120"/>
              </a:rPr>
              <a:t>Your personal developer command center</a:t>
            </a:r>
            <a:endParaRPr lang="en-US" sz="1600" dirty="0"/>
          </a:p>
        </p:txBody>
      </p:sp>
      <p:sp>
        <p:nvSpPr>
          <p:cNvPr id="8" name="Text 6"/>
          <p:cNvSpPr/>
          <p:nvPr/>
        </p:nvSpPr>
        <p:spPr>
          <a:xfrm>
            <a:off x="0" y="4389120"/>
            <a:ext cx="12191695" cy="310896"/>
          </a:xfrm>
          <a:prstGeom prst="rect">
            <a:avLst/>
          </a:prstGeom>
          <a:noFill/>
          <a:ln/>
        </p:spPr>
        <p:txBody>
          <a:bodyPr wrap="square" rtlCol="0" anchor="ctr"/>
          <a:lstStyle/>
          <a:p>
            <a:pPr algn="ctr" indent="0" marL="0">
              <a:buNone/>
            </a:pPr>
            <a:r>
              <a:rPr lang="en-US" sz="1250" dirty="0">
                <a:solidFill>
                  <a:srgbClr val="9FB2AB"/>
                </a:solidFill>
                <a:latin typeface="Segoe UI" pitchFamily="34" charset="0"/>
                <a:ea typeface="Segoe UI" pitchFamily="34" charset="-122"/>
                <a:cs typeface="Segoe UI" pitchFamily="34" charset="-120"/>
              </a:rPr>
              <a:t>Product and architecture overview</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THE PROBLEM</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A developer's day is spread across a dozen tools</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Every tool solves its own slice well. None of them share context, so the person in the middle pays the cost.</a:t>
            </a:r>
            <a:endParaRPr lang="en-US" sz="1250" dirty="0"/>
          </a:p>
        </p:txBody>
      </p:sp>
      <p:sp>
        <p:nvSpPr>
          <p:cNvPr id="5" name="Shape 3"/>
          <p:cNvSpPr/>
          <p:nvPr/>
        </p:nvSpPr>
        <p:spPr>
          <a:xfrm>
            <a:off x="777240" y="2212848"/>
            <a:ext cx="5190592" cy="1129284"/>
          </a:xfrm>
          <a:prstGeom prst="rect">
            <a:avLst/>
          </a:prstGeom>
          <a:solidFill>
            <a:srgbClr val="F6F9F8"/>
          </a:solidFill>
          <a:ln w="9525">
            <a:solidFill>
              <a:srgbClr val="DCE5E1"/>
            </a:solidFill>
            <a:prstDash val="solid"/>
          </a:ln>
        </p:spPr>
      </p:sp>
      <p:sp>
        <p:nvSpPr>
          <p:cNvPr id="6" name="Shape 4"/>
          <p:cNvSpPr/>
          <p:nvPr/>
        </p:nvSpPr>
        <p:spPr>
          <a:xfrm>
            <a:off x="777240" y="2212848"/>
            <a:ext cx="41148" cy="1129284"/>
          </a:xfrm>
          <a:prstGeom prst="rect">
            <a:avLst/>
          </a:prstGeom>
          <a:solidFill>
            <a:srgbClr val="0F8A5F"/>
          </a:solidFill>
          <a:ln/>
        </p:spPr>
      </p:sp>
      <p:sp>
        <p:nvSpPr>
          <p:cNvPr id="7" name="Text 5"/>
          <p:cNvSpPr/>
          <p:nvPr/>
        </p:nvSpPr>
        <p:spPr>
          <a:xfrm>
            <a:off x="978408" y="2331720"/>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Context lives everywhere</a:t>
            </a:r>
            <a:endParaRPr lang="en-US" sz="1250" dirty="0"/>
          </a:p>
        </p:txBody>
      </p:sp>
      <p:sp>
        <p:nvSpPr>
          <p:cNvPr id="8" name="Text 6"/>
          <p:cNvSpPr/>
          <p:nvPr/>
        </p:nvSpPr>
        <p:spPr>
          <a:xfrm>
            <a:off x="978408" y="2615184"/>
            <a:ext cx="4806544" cy="598932"/>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Tickets sit in one system, tasks in another and sprints in a third. Each is accurate on its own, but the complete picture of what is actually in flight exists in no single place.</a:t>
            </a:r>
            <a:endParaRPr lang="en-US" sz="1050" dirty="0"/>
          </a:p>
        </p:txBody>
      </p:sp>
      <p:sp>
        <p:nvSpPr>
          <p:cNvPr id="9" name="Shape 7"/>
          <p:cNvSpPr/>
          <p:nvPr/>
        </p:nvSpPr>
        <p:spPr>
          <a:xfrm>
            <a:off x="6223864" y="2212848"/>
            <a:ext cx="5190592" cy="1129284"/>
          </a:xfrm>
          <a:prstGeom prst="rect">
            <a:avLst/>
          </a:prstGeom>
          <a:solidFill>
            <a:srgbClr val="F6F9F8"/>
          </a:solidFill>
          <a:ln w="9525">
            <a:solidFill>
              <a:srgbClr val="DCE5E1"/>
            </a:solidFill>
            <a:prstDash val="solid"/>
          </a:ln>
        </p:spPr>
      </p:sp>
      <p:sp>
        <p:nvSpPr>
          <p:cNvPr id="10" name="Shape 8"/>
          <p:cNvSpPr/>
          <p:nvPr/>
        </p:nvSpPr>
        <p:spPr>
          <a:xfrm>
            <a:off x="6223864" y="2212848"/>
            <a:ext cx="41148" cy="1129284"/>
          </a:xfrm>
          <a:prstGeom prst="rect">
            <a:avLst/>
          </a:prstGeom>
          <a:solidFill>
            <a:srgbClr val="0F8A5F"/>
          </a:solidFill>
          <a:ln/>
        </p:spPr>
      </p:sp>
      <p:sp>
        <p:nvSpPr>
          <p:cNvPr id="11" name="Text 9"/>
          <p:cNvSpPr/>
          <p:nvPr/>
        </p:nvSpPr>
        <p:spPr>
          <a:xfrm>
            <a:off x="6425032" y="2331720"/>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Constant tool-switching</a:t>
            </a:r>
            <a:endParaRPr lang="en-US" sz="1250" dirty="0"/>
          </a:p>
        </p:txBody>
      </p:sp>
      <p:sp>
        <p:nvSpPr>
          <p:cNvPr id="12" name="Text 10"/>
          <p:cNvSpPr/>
          <p:nvPr/>
        </p:nvSpPr>
        <p:spPr>
          <a:xfrm>
            <a:off x="6425032" y="2615184"/>
            <a:ext cx="4806544" cy="598932"/>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Terminal for git, browser for pull requests, editor for code, and separate applications for mail and chat. Every switch is a small tax on attention, paid dozens of times a day.</a:t>
            </a:r>
            <a:endParaRPr lang="en-US" sz="1050" dirty="0"/>
          </a:p>
        </p:txBody>
      </p:sp>
      <p:sp>
        <p:nvSpPr>
          <p:cNvPr id="13" name="Shape 11"/>
          <p:cNvSpPr/>
          <p:nvPr/>
        </p:nvSpPr>
        <p:spPr>
          <a:xfrm>
            <a:off x="777240" y="3579876"/>
            <a:ext cx="5190592" cy="1129284"/>
          </a:xfrm>
          <a:prstGeom prst="rect">
            <a:avLst/>
          </a:prstGeom>
          <a:solidFill>
            <a:srgbClr val="F6F9F8"/>
          </a:solidFill>
          <a:ln w="9525">
            <a:solidFill>
              <a:srgbClr val="DCE5E1"/>
            </a:solidFill>
            <a:prstDash val="solid"/>
          </a:ln>
        </p:spPr>
      </p:sp>
      <p:sp>
        <p:nvSpPr>
          <p:cNvPr id="14" name="Shape 12"/>
          <p:cNvSpPr/>
          <p:nvPr/>
        </p:nvSpPr>
        <p:spPr>
          <a:xfrm>
            <a:off x="777240" y="3579876"/>
            <a:ext cx="41148" cy="1129284"/>
          </a:xfrm>
          <a:prstGeom prst="rect">
            <a:avLst/>
          </a:prstGeom>
          <a:solidFill>
            <a:srgbClr val="0F8A5F"/>
          </a:solidFill>
          <a:ln/>
        </p:spPr>
      </p:sp>
      <p:sp>
        <p:nvSpPr>
          <p:cNvPr id="15" name="Text 13"/>
          <p:cNvSpPr/>
          <p:nvPr/>
        </p:nvSpPr>
        <p:spPr>
          <a:xfrm>
            <a:off x="978408" y="3698748"/>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Time tracking is an afterthought</a:t>
            </a:r>
            <a:endParaRPr lang="en-US" sz="1250" dirty="0"/>
          </a:p>
        </p:txBody>
      </p:sp>
      <p:sp>
        <p:nvSpPr>
          <p:cNvPr id="16" name="Text 14"/>
          <p:cNvSpPr/>
          <p:nvPr/>
        </p:nvSpPr>
        <p:spPr>
          <a:xfrm>
            <a:off x="978408" y="3982212"/>
            <a:ext cx="4806544" cy="598932"/>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Timers run outside the work they are meant to measure, so logged hours are reconstructed from memory and rarely reflect what actually happened.</a:t>
            </a:r>
            <a:endParaRPr lang="en-US" sz="1050" dirty="0"/>
          </a:p>
        </p:txBody>
      </p:sp>
      <p:sp>
        <p:nvSpPr>
          <p:cNvPr id="17" name="Shape 15"/>
          <p:cNvSpPr/>
          <p:nvPr/>
        </p:nvSpPr>
        <p:spPr>
          <a:xfrm>
            <a:off x="6223864" y="3579876"/>
            <a:ext cx="5190592" cy="1129284"/>
          </a:xfrm>
          <a:prstGeom prst="rect">
            <a:avLst/>
          </a:prstGeom>
          <a:solidFill>
            <a:srgbClr val="F6F9F8"/>
          </a:solidFill>
          <a:ln w="9525">
            <a:solidFill>
              <a:srgbClr val="DCE5E1"/>
            </a:solidFill>
            <a:prstDash val="solid"/>
          </a:ln>
        </p:spPr>
      </p:sp>
      <p:sp>
        <p:nvSpPr>
          <p:cNvPr id="18" name="Shape 16"/>
          <p:cNvSpPr/>
          <p:nvPr/>
        </p:nvSpPr>
        <p:spPr>
          <a:xfrm>
            <a:off x="6223864" y="3579876"/>
            <a:ext cx="41148" cy="1129284"/>
          </a:xfrm>
          <a:prstGeom prst="rect">
            <a:avLst/>
          </a:prstGeom>
          <a:solidFill>
            <a:srgbClr val="0F8A5F"/>
          </a:solidFill>
          <a:ln/>
        </p:spPr>
      </p:sp>
      <p:sp>
        <p:nvSpPr>
          <p:cNvPr id="19" name="Text 17"/>
          <p:cNvSpPr/>
          <p:nvPr/>
        </p:nvSpPr>
        <p:spPr>
          <a:xfrm>
            <a:off x="6425032" y="3698748"/>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Infrastructure sits apart</a:t>
            </a:r>
            <a:endParaRPr lang="en-US" sz="1250" dirty="0"/>
          </a:p>
        </p:txBody>
      </p:sp>
      <p:sp>
        <p:nvSpPr>
          <p:cNvPr id="20" name="Text 18"/>
          <p:cNvSpPr/>
          <p:nvPr/>
        </p:nvSpPr>
        <p:spPr>
          <a:xfrm>
            <a:off x="6425032" y="3982212"/>
            <a:ext cx="4806544" cy="598932"/>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Databases, containers and cloud dashboards live far away from the tickets and code that drive them, turning routine checks into a hunt across tabs.</a:t>
            </a:r>
            <a:endParaRPr lang="en-US" sz="1050" dirty="0"/>
          </a:p>
        </p:txBody>
      </p:sp>
      <p:sp>
        <p:nvSpPr>
          <p:cNvPr id="21" name="Text 19"/>
          <p:cNvSpPr/>
          <p:nvPr/>
        </p:nvSpPr>
        <p:spPr>
          <a:xfrm>
            <a:off x="777240" y="5020056"/>
            <a:ext cx="10637215" cy="292608"/>
          </a:xfrm>
          <a:prstGeom prst="rect">
            <a:avLst/>
          </a:prstGeom>
          <a:noFill/>
          <a:ln/>
        </p:spPr>
        <p:txBody>
          <a:bodyPr wrap="square" rtlCol="0" anchor="ctr"/>
          <a:lstStyle/>
          <a:p>
            <a:pPr indent="0" marL="0">
              <a:buNone/>
            </a:pPr>
            <a:r>
              <a:rPr lang="en-US" sz="1300" dirty="0">
                <a:solidFill>
                  <a:srgbClr val="0F8A5F"/>
                </a:solidFill>
                <a:latin typeface="Segoe UI Semibold" pitchFamily="34" charset="0"/>
                <a:ea typeface="Segoe UI Semibold" pitchFamily="34" charset="-122"/>
                <a:cs typeface="Segoe UI Semibold" pitchFamily="34" charset="-120"/>
              </a:rPr>
              <a:t>The bottleneck is not any single tool. It is the distance between them.</a:t>
            </a:r>
            <a:endParaRPr lang="en-US" sz="1300" dirty="0"/>
          </a:p>
        </p:txBody>
      </p:sp>
      <p:sp>
        <p:nvSpPr>
          <p:cNvPr id="22" name="Shape 20"/>
          <p:cNvSpPr/>
          <p:nvPr/>
        </p:nvSpPr>
        <p:spPr>
          <a:xfrm>
            <a:off x="777240" y="6327648"/>
            <a:ext cx="10637215" cy="10973"/>
          </a:xfrm>
          <a:prstGeom prst="rect">
            <a:avLst/>
          </a:prstGeom>
          <a:solidFill>
            <a:srgbClr val="DCE5E1"/>
          </a:solidFill>
          <a:ln/>
        </p:spPr>
      </p:sp>
      <p:sp>
        <p:nvSpPr>
          <p:cNvPr id="23" name="Shape 21"/>
          <p:cNvSpPr/>
          <p:nvPr/>
        </p:nvSpPr>
        <p:spPr>
          <a:xfrm>
            <a:off x="777240" y="6446520"/>
            <a:ext cx="164592" cy="164592"/>
          </a:xfrm>
          <a:prstGeom prst="ellipse">
            <a:avLst/>
          </a:prstGeom>
          <a:solidFill>
            <a:srgbClr val="FFFFFF"/>
          </a:solidFill>
          <a:ln w="20320">
            <a:solidFill>
              <a:srgbClr val="0F8A5F"/>
            </a:solidFill>
            <a:prstDash val="solid"/>
          </a:ln>
        </p:spPr>
      </p:sp>
      <p:sp>
        <p:nvSpPr>
          <p:cNvPr id="24" name="Shape 22"/>
          <p:cNvSpPr/>
          <p:nvPr/>
        </p:nvSpPr>
        <p:spPr>
          <a:xfrm>
            <a:off x="834847" y="6504127"/>
            <a:ext cx="49378" cy="49378"/>
          </a:xfrm>
          <a:prstGeom prst="ellipse">
            <a:avLst/>
          </a:prstGeom>
          <a:solidFill>
            <a:srgbClr val="0F8A5F"/>
          </a:solidFill>
          <a:ln/>
        </p:spPr>
      </p:sp>
      <p:sp>
        <p:nvSpPr>
          <p:cNvPr id="25" name="Shape 23"/>
          <p:cNvSpPr/>
          <p:nvPr/>
        </p:nvSpPr>
        <p:spPr>
          <a:xfrm>
            <a:off x="903729" y="6456642"/>
            <a:ext cx="27981" cy="27981"/>
          </a:xfrm>
          <a:prstGeom prst="ellipse">
            <a:avLst/>
          </a:prstGeom>
          <a:solidFill>
            <a:srgbClr val="0F8A5F"/>
          </a:solidFill>
          <a:ln w="15240">
            <a:solidFill>
              <a:srgbClr val="FFFFFF"/>
            </a:solidFill>
            <a:prstDash val="solid"/>
          </a:ln>
        </p:spPr>
      </p:sp>
      <p:sp>
        <p:nvSpPr>
          <p:cNvPr id="26" name="Text 24"/>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7" name="Text 25"/>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The problem</a:t>
            </a:r>
            <a:endParaRPr lang="en-US" sz="850" dirty="0"/>
          </a:p>
        </p:txBody>
      </p:sp>
      <p:sp>
        <p:nvSpPr>
          <p:cNvPr id="28" name="Text 26"/>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2 / 12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THE SOLUTION</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One command center for the entire engineering workflow</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Orbit unifies planning, code, communication and infrastructure in a single control-room interface, with AI and automation built into the core rather than added on top.</a:t>
            </a:r>
            <a:endParaRPr lang="en-US" sz="1250" dirty="0"/>
          </a:p>
        </p:txBody>
      </p:sp>
      <p:sp>
        <p:nvSpPr>
          <p:cNvPr id="5" name="Shape 3"/>
          <p:cNvSpPr/>
          <p:nvPr/>
        </p:nvSpPr>
        <p:spPr>
          <a:xfrm>
            <a:off x="777240" y="2103120"/>
            <a:ext cx="10637215" cy="950976"/>
          </a:xfrm>
          <a:prstGeom prst="rect">
            <a:avLst/>
          </a:prstGeom>
          <a:solidFill>
            <a:srgbClr val="F6F9F8"/>
          </a:solidFill>
          <a:ln w="9525">
            <a:solidFill>
              <a:srgbClr val="DCE5E1"/>
            </a:solidFill>
            <a:prstDash val="solid"/>
          </a:ln>
        </p:spPr>
      </p:sp>
      <p:sp>
        <p:nvSpPr>
          <p:cNvPr id="6" name="Shape 4"/>
          <p:cNvSpPr/>
          <p:nvPr/>
        </p:nvSpPr>
        <p:spPr>
          <a:xfrm>
            <a:off x="777240" y="2103120"/>
            <a:ext cx="41148" cy="950976"/>
          </a:xfrm>
          <a:prstGeom prst="rect">
            <a:avLst/>
          </a:prstGeom>
          <a:solidFill>
            <a:srgbClr val="0F8A5F"/>
          </a:solidFill>
          <a:ln/>
        </p:spPr>
      </p:sp>
      <p:sp>
        <p:nvSpPr>
          <p:cNvPr id="7" name="Text 5"/>
          <p:cNvSpPr/>
          <p:nvPr/>
        </p:nvSpPr>
        <p:spPr>
          <a:xfrm>
            <a:off x="978408" y="2221992"/>
            <a:ext cx="10253167"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Plan and ship</a:t>
            </a:r>
            <a:endParaRPr lang="en-US" sz="1250" dirty="0"/>
          </a:p>
        </p:txBody>
      </p:sp>
      <p:sp>
        <p:nvSpPr>
          <p:cNvPr id="8" name="Text 6"/>
          <p:cNvSpPr/>
          <p:nvPr/>
        </p:nvSpPr>
        <p:spPr>
          <a:xfrm>
            <a:off x="978408" y="2505456"/>
            <a:ext cx="10253167"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Tasks, tickets, projects and sprints share one model of the work, so moving an item forward updates everything that depends on it instead of leaving four systems to reconcile by hand.</a:t>
            </a:r>
            <a:endParaRPr lang="en-US" sz="1050" dirty="0"/>
          </a:p>
        </p:txBody>
      </p:sp>
      <p:sp>
        <p:nvSpPr>
          <p:cNvPr id="9" name="Shape 7"/>
          <p:cNvSpPr/>
          <p:nvPr/>
        </p:nvSpPr>
        <p:spPr>
          <a:xfrm>
            <a:off x="777240" y="3172968"/>
            <a:ext cx="10637215" cy="950976"/>
          </a:xfrm>
          <a:prstGeom prst="rect">
            <a:avLst/>
          </a:prstGeom>
          <a:solidFill>
            <a:srgbClr val="F6F9F8"/>
          </a:solidFill>
          <a:ln w="9525">
            <a:solidFill>
              <a:srgbClr val="DCE5E1"/>
            </a:solidFill>
            <a:prstDash val="solid"/>
          </a:ln>
        </p:spPr>
      </p:sp>
      <p:sp>
        <p:nvSpPr>
          <p:cNvPr id="10" name="Shape 8"/>
          <p:cNvSpPr/>
          <p:nvPr/>
        </p:nvSpPr>
        <p:spPr>
          <a:xfrm>
            <a:off x="777240" y="3172968"/>
            <a:ext cx="41148" cy="950976"/>
          </a:xfrm>
          <a:prstGeom prst="rect">
            <a:avLst/>
          </a:prstGeom>
          <a:solidFill>
            <a:srgbClr val="0F8A5F"/>
          </a:solidFill>
          <a:ln/>
        </p:spPr>
      </p:sp>
      <p:sp>
        <p:nvSpPr>
          <p:cNvPr id="11" name="Text 9"/>
          <p:cNvSpPr/>
          <p:nvPr/>
        </p:nvSpPr>
        <p:spPr>
          <a:xfrm>
            <a:off x="978408" y="3291840"/>
            <a:ext cx="10253167"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Stay in flow</a:t>
            </a:r>
            <a:endParaRPr lang="en-US" sz="1250" dirty="0"/>
          </a:p>
        </p:txBody>
      </p:sp>
      <p:sp>
        <p:nvSpPr>
          <p:cNvPr id="12" name="Text 10"/>
          <p:cNvSpPr/>
          <p:nvPr/>
        </p:nvSpPr>
        <p:spPr>
          <a:xfrm>
            <a:off x="978408" y="3575304"/>
            <a:ext cx="10253167"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Calendar, focus timer and live team presence sit in the same view, and time is captured from the work actually being done rather than reconstructed and typed in at the end of the day.</a:t>
            </a:r>
            <a:endParaRPr lang="en-US" sz="1050" dirty="0"/>
          </a:p>
        </p:txBody>
      </p:sp>
      <p:sp>
        <p:nvSpPr>
          <p:cNvPr id="13" name="Shape 11"/>
          <p:cNvSpPr/>
          <p:nvPr/>
        </p:nvSpPr>
        <p:spPr>
          <a:xfrm>
            <a:off x="777240" y="4242816"/>
            <a:ext cx="10637215" cy="950976"/>
          </a:xfrm>
          <a:prstGeom prst="rect">
            <a:avLst/>
          </a:prstGeom>
          <a:solidFill>
            <a:srgbClr val="F6F9F8"/>
          </a:solidFill>
          <a:ln w="9525">
            <a:solidFill>
              <a:srgbClr val="DCE5E1"/>
            </a:solidFill>
            <a:prstDash val="solid"/>
          </a:ln>
        </p:spPr>
      </p:sp>
      <p:sp>
        <p:nvSpPr>
          <p:cNvPr id="14" name="Shape 12"/>
          <p:cNvSpPr/>
          <p:nvPr/>
        </p:nvSpPr>
        <p:spPr>
          <a:xfrm>
            <a:off x="777240" y="4242816"/>
            <a:ext cx="41148" cy="950976"/>
          </a:xfrm>
          <a:prstGeom prst="rect">
            <a:avLst/>
          </a:prstGeom>
          <a:solidFill>
            <a:srgbClr val="0F8A5F"/>
          </a:solidFill>
          <a:ln/>
        </p:spPr>
      </p:sp>
      <p:sp>
        <p:nvSpPr>
          <p:cNvPr id="15" name="Text 13"/>
          <p:cNvSpPr/>
          <p:nvPr/>
        </p:nvSpPr>
        <p:spPr>
          <a:xfrm>
            <a:off x="978408" y="4361688"/>
            <a:ext cx="10253167"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Reach everything</a:t>
            </a:r>
            <a:endParaRPr lang="en-US" sz="1250" dirty="0"/>
          </a:p>
        </p:txBody>
      </p:sp>
      <p:sp>
        <p:nvSpPr>
          <p:cNvPr id="16" name="Text 14"/>
          <p:cNvSpPr/>
          <p:nvPr/>
        </p:nvSpPr>
        <p:spPr>
          <a:xfrm>
            <a:off x="978408" y="4645152"/>
            <a:ext cx="10253167"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Mail, Postgres, Docker and a complete audit trail are integrated natively, so the operational checks that punctuate a working day never require leaving the window.</a:t>
            </a:r>
            <a:endParaRPr lang="en-US" sz="1050" dirty="0"/>
          </a:p>
        </p:txBody>
      </p:sp>
      <p:sp>
        <p:nvSpPr>
          <p:cNvPr id="17" name="Shape 15"/>
          <p:cNvSpPr/>
          <p:nvPr/>
        </p:nvSpPr>
        <p:spPr>
          <a:xfrm>
            <a:off x="777240" y="5312664"/>
            <a:ext cx="10637215" cy="950976"/>
          </a:xfrm>
          <a:prstGeom prst="rect">
            <a:avLst/>
          </a:prstGeom>
          <a:solidFill>
            <a:srgbClr val="F6F9F8"/>
          </a:solidFill>
          <a:ln w="9525">
            <a:solidFill>
              <a:srgbClr val="DCE5E1"/>
            </a:solidFill>
            <a:prstDash val="solid"/>
          </a:ln>
        </p:spPr>
      </p:sp>
      <p:sp>
        <p:nvSpPr>
          <p:cNvPr id="18" name="Shape 16"/>
          <p:cNvSpPr/>
          <p:nvPr/>
        </p:nvSpPr>
        <p:spPr>
          <a:xfrm>
            <a:off x="777240" y="5312664"/>
            <a:ext cx="41148" cy="950976"/>
          </a:xfrm>
          <a:prstGeom prst="rect">
            <a:avLst/>
          </a:prstGeom>
          <a:solidFill>
            <a:srgbClr val="0F8A5F"/>
          </a:solidFill>
          <a:ln/>
        </p:spPr>
      </p:sp>
      <p:sp>
        <p:nvSpPr>
          <p:cNvPr id="19" name="Text 17"/>
          <p:cNvSpPr/>
          <p:nvPr/>
        </p:nvSpPr>
        <p:spPr>
          <a:xfrm>
            <a:off x="978408" y="5431536"/>
            <a:ext cx="10253167"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Think with AI</a:t>
            </a:r>
            <a:endParaRPr lang="en-US" sz="1250" dirty="0"/>
          </a:p>
        </p:txBody>
      </p:sp>
      <p:sp>
        <p:nvSpPr>
          <p:cNvPr id="20" name="Text 18"/>
          <p:cNvSpPr/>
          <p:nvPr/>
        </p:nvSpPr>
        <p:spPr>
          <a:xfrm>
            <a:off x="978408" y="5715000"/>
            <a:ext cx="10253167"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Assistants, automatic triage and proactive insights run on every surface, drawing on context Orbit already holds rather than context the user has to re-explain each time.</a:t>
            </a:r>
            <a:endParaRPr lang="en-US" sz="1050" dirty="0"/>
          </a:p>
        </p:txBody>
      </p:sp>
      <p:sp>
        <p:nvSpPr>
          <p:cNvPr id="21" name="Shape 19"/>
          <p:cNvSpPr/>
          <p:nvPr/>
        </p:nvSpPr>
        <p:spPr>
          <a:xfrm>
            <a:off x="777240" y="6327648"/>
            <a:ext cx="10637215" cy="10973"/>
          </a:xfrm>
          <a:prstGeom prst="rect">
            <a:avLst/>
          </a:prstGeom>
          <a:solidFill>
            <a:srgbClr val="DCE5E1"/>
          </a:solidFill>
          <a:ln/>
        </p:spPr>
      </p:sp>
      <p:sp>
        <p:nvSpPr>
          <p:cNvPr id="22" name="Shape 20"/>
          <p:cNvSpPr/>
          <p:nvPr/>
        </p:nvSpPr>
        <p:spPr>
          <a:xfrm>
            <a:off x="777240" y="6446520"/>
            <a:ext cx="164592" cy="164592"/>
          </a:xfrm>
          <a:prstGeom prst="ellipse">
            <a:avLst/>
          </a:prstGeom>
          <a:solidFill>
            <a:srgbClr val="FFFFFF"/>
          </a:solidFill>
          <a:ln w="20320">
            <a:solidFill>
              <a:srgbClr val="0F8A5F"/>
            </a:solidFill>
            <a:prstDash val="solid"/>
          </a:ln>
        </p:spPr>
      </p:sp>
      <p:sp>
        <p:nvSpPr>
          <p:cNvPr id="23" name="Shape 21"/>
          <p:cNvSpPr/>
          <p:nvPr/>
        </p:nvSpPr>
        <p:spPr>
          <a:xfrm>
            <a:off x="834847" y="6504127"/>
            <a:ext cx="49378" cy="49378"/>
          </a:xfrm>
          <a:prstGeom prst="ellipse">
            <a:avLst/>
          </a:prstGeom>
          <a:solidFill>
            <a:srgbClr val="0F8A5F"/>
          </a:solidFill>
          <a:ln/>
        </p:spPr>
      </p:sp>
      <p:sp>
        <p:nvSpPr>
          <p:cNvPr id="24" name="Shape 22"/>
          <p:cNvSpPr/>
          <p:nvPr/>
        </p:nvSpPr>
        <p:spPr>
          <a:xfrm>
            <a:off x="903729" y="6456642"/>
            <a:ext cx="27981" cy="27981"/>
          </a:xfrm>
          <a:prstGeom prst="ellipse">
            <a:avLst/>
          </a:prstGeom>
          <a:solidFill>
            <a:srgbClr val="0F8A5F"/>
          </a:solidFill>
          <a:ln w="15240">
            <a:solidFill>
              <a:srgbClr val="FFFFFF"/>
            </a:solidFill>
            <a:prstDash val="solid"/>
          </a:ln>
        </p:spPr>
      </p:sp>
      <p:sp>
        <p:nvSpPr>
          <p:cNvPr id="25" name="Text 23"/>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6" name="Text 24"/>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What is Orbit</a:t>
            </a:r>
            <a:endParaRPr lang="en-US" sz="850" dirty="0"/>
          </a:p>
        </p:txBody>
      </p:sp>
      <p:sp>
        <p:nvSpPr>
          <p:cNvPr id="27" name="Text 25"/>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3 / 12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CAPABILITIES 01</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Plan and ship work</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Every unit of work, from a one-line task to a full sprint, lives on one connected board.</a:t>
            </a:r>
            <a:endParaRPr lang="en-US" sz="1250" dirty="0"/>
          </a:p>
        </p:txBody>
      </p:sp>
      <p:sp>
        <p:nvSpPr>
          <p:cNvPr id="5" name="Shape 3"/>
          <p:cNvSpPr/>
          <p:nvPr/>
        </p:nvSpPr>
        <p:spPr>
          <a:xfrm>
            <a:off x="777240" y="1997964"/>
            <a:ext cx="5172304" cy="950976"/>
          </a:xfrm>
          <a:prstGeom prst="rect">
            <a:avLst/>
          </a:prstGeom>
          <a:solidFill>
            <a:srgbClr val="F6F9F8"/>
          </a:solidFill>
          <a:ln w="9525">
            <a:solidFill>
              <a:srgbClr val="DCE5E1"/>
            </a:solidFill>
            <a:prstDash val="solid"/>
          </a:ln>
        </p:spPr>
      </p:sp>
      <p:sp>
        <p:nvSpPr>
          <p:cNvPr id="6" name="Shape 4"/>
          <p:cNvSpPr/>
          <p:nvPr/>
        </p:nvSpPr>
        <p:spPr>
          <a:xfrm>
            <a:off x="777240" y="1997964"/>
            <a:ext cx="41148" cy="950976"/>
          </a:xfrm>
          <a:prstGeom prst="rect">
            <a:avLst/>
          </a:prstGeom>
          <a:solidFill>
            <a:srgbClr val="0F8A5F"/>
          </a:solidFill>
          <a:ln/>
        </p:spPr>
      </p:sp>
      <p:sp>
        <p:nvSpPr>
          <p:cNvPr id="7" name="Text 5"/>
          <p:cNvSpPr/>
          <p:nvPr/>
        </p:nvSpPr>
        <p:spPr>
          <a:xfrm>
            <a:off x="978408" y="2116836"/>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Tasks</a:t>
            </a:r>
            <a:endParaRPr lang="en-US" sz="1250" dirty="0"/>
          </a:p>
        </p:txBody>
      </p:sp>
      <p:sp>
        <p:nvSpPr>
          <p:cNvPr id="8" name="Text 6"/>
          <p:cNvSpPr/>
          <p:nvPr/>
        </p:nvSpPr>
        <p:spPr>
          <a:xfrm>
            <a:off x="978408" y="2400300"/>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Kanban board across todo, doing, review and done. Scoped by project or team, with priorities and live updates.</a:t>
            </a:r>
            <a:endParaRPr lang="en-US" sz="1050" dirty="0"/>
          </a:p>
        </p:txBody>
      </p:sp>
      <p:sp>
        <p:nvSpPr>
          <p:cNvPr id="9" name="Shape 7"/>
          <p:cNvSpPr/>
          <p:nvPr/>
        </p:nvSpPr>
        <p:spPr>
          <a:xfrm>
            <a:off x="777240" y="3067812"/>
            <a:ext cx="5172304" cy="950976"/>
          </a:xfrm>
          <a:prstGeom prst="rect">
            <a:avLst/>
          </a:prstGeom>
          <a:solidFill>
            <a:srgbClr val="F6F9F8"/>
          </a:solidFill>
          <a:ln w="9525">
            <a:solidFill>
              <a:srgbClr val="DCE5E1"/>
            </a:solidFill>
            <a:prstDash val="solid"/>
          </a:ln>
        </p:spPr>
      </p:sp>
      <p:sp>
        <p:nvSpPr>
          <p:cNvPr id="10" name="Shape 8"/>
          <p:cNvSpPr/>
          <p:nvPr/>
        </p:nvSpPr>
        <p:spPr>
          <a:xfrm>
            <a:off x="777240" y="3067812"/>
            <a:ext cx="41148" cy="950976"/>
          </a:xfrm>
          <a:prstGeom prst="rect">
            <a:avLst/>
          </a:prstGeom>
          <a:solidFill>
            <a:srgbClr val="0F8A5F"/>
          </a:solidFill>
          <a:ln/>
        </p:spPr>
      </p:sp>
      <p:sp>
        <p:nvSpPr>
          <p:cNvPr id="11" name="Text 9"/>
          <p:cNvSpPr/>
          <p:nvPr/>
        </p:nvSpPr>
        <p:spPr>
          <a:xfrm>
            <a:off x="978408" y="3186684"/>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Tickets</a:t>
            </a:r>
            <a:endParaRPr lang="en-US" sz="1250" dirty="0"/>
          </a:p>
        </p:txBody>
      </p:sp>
      <p:sp>
        <p:nvSpPr>
          <p:cNvPr id="12" name="Text 10"/>
          <p:cNvSpPr/>
          <p:nvPr/>
        </p:nvSpPr>
        <p:spPr>
          <a:xfrm>
            <a:off x="978408" y="3470148"/>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ticket tracker with AI triage that proposes priority, owning project and a written summary on arrival.</a:t>
            </a:r>
            <a:endParaRPr lang="en-US" sz="1050" dirty="0"/>
          </a:p>
        </p:txBody>
      </p:sp>
      <p:sp>
        <p:nvSpPr>
          <p:cNvPr id="13" name="Shape 11"/>
          <p:cNvSpPr/>
          <p:nvPr/>
        </p:nvSpPr>
        <p:spPr>
          <a:xfrm>
            <a:off x="777240" y="4137660"/>
            <a:ext cx="5172304" cy="950976"/>
          </a:xfrm>
          <a:prstGeom prst="rect">
            <a:avLst/>
          </a:prstGeom>
          <a:solidFill>
            <a:srgbClr val="F6F9F8"/>
          </a:solidFill>
          <a:ln w="9525">
            <a:solidFill>
              <a:srgbClr val="DCE5E1"/>
            </a:solidFill>
            <a:prstDash val="solid"/>
          </a:ln>
        </p:spPr>
      </p:sp>
      <p:sp>
        <p:nvSpPr>
          <p:cNvPr id="14" name="Shape 12"/>
          <p:cNvSpPr/>
          <p:nvPr/>
        </p:nvSpPr>
        <p:spPr>
          <a:xfrm>
            <a:off x="777240" y="4137660"/>
            <a:ext cx="41148" cy="950976"/>
          </a:xfrm>
          <a:prstGeom prst="rect">
            <a:avLst/>
          </a:prstGeom>
          <a:solidFill>
            <a:srgbClr val="0F8A5F"/>
          </a:solidFill>
          <a:ln/>
        </p:spPr>
      </p:sp>
      <p:sp>
        <p:nvSpPr>
          <p:cNvPr id="15" name="Text 13"/>
          <p:cNvSpPr/>
          <p:nvPr/>
        </p:nvSpPr>
        <p:spPr>
          <a:xfrm>
            <a:off x="978408" y="4256532"/>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Projects</a:t>
            </a:r>
            <a:endParaRPr lang="en-US" sz="1250" dirty="0"/>
          </a:p>
        </p:txBody>
      </p:sp>
      <p:sp>
        <p:nvSpPr>
          <p:cNvPr id="16" name="Text 14"/>
          <p:cNvSpPr/>
          <p:nvPr/>
        </p:nvSpPr>
        <p:spPr>
          <a:xfrm>
            <a:off x="978408" y="4539996"/>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registry of client and personal work, each project linked to its local folder with live git status.</a:t>
            </a:r>
            <a:endParaRPr lang="en-US" sz="1050" dirty="0"/>
          </a:p>
        </p:txBody>
      </p:sp>
      <p:sp>
        <p:nvSpPr>
          <p:cNvPr id="17" name="Shape 15"/>
          <p:cNvSpPr/>
          <p:nvPr/>
        </p:nvSpPr>
        <p:spPr>
          <a:xfrm>
            <a:off x="777240" y="5207508"/>
            <a:ext cx="5172304" cy="950976"/>
          </a:xfrm>
          <a:prstGeom prst="rect">
            <a:avLst/>
          </a:prstGeom>
          <a:solidFill>
            <a:srgbClr val="F6F9F8"/>
          </a:solidFill>
          <a:ln w="9525">
            <a:solidFill>
              <a:srgbClr val="DCE5E1"/>
            </a:solidFill>
            <a:prstDash val="solid"/>
          </a:ln>
        </p:spPr>
      </p:sp>
      <p:sp>
        <p:nvSpPr>
          <p:cNvPr id="18" name="Shape 16"/>
          <p:cNvSpPr/>
          <p:nvPr/>
        </p:nvSpPr>
        <p:spPr>
          <a:xfrm>
            <a:off x="777240" y="5207508"/>
            <a:ext cx="41148" cy="950976"/>
          </a:xfrm>
          <a:prstGeom prst="rect">
            <a:avLst/>
          </a:prstGeom>
          <a:solidFill>
            <a:srgbClr val="0F8A5F"/>
          </a:solidFill>
          <a:ln/>
        </p:spPr>
      </p:sp>
      <p:sp>
        <p:nvSpPr>
          <p:cNvPr id="19" name="Text 17"/>
          <p:cNvSpPr/>
          <p:nvPr/>
        </p:nvSpPr>
        <p:spPr>
          <a:xfrm>
            <a:off x="978408" y="5326380"/>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Sprints</a:t>
            </a:r>
            <a:endParaRPr lang="en-US" sz="1250" dirty="0"/>
          </a:p>
        </p:txBody>
      </p:sp>
      <p:sp>
        <p:nvSpPr>
          <p:cNvPr id="20" name="Text 18"/>
          <p:cNvSpPr/>
          <p:nvPr/>
        </p:nvSpPr>
        <p:spPr>
          <a:xfrm>
            <a:off x="978408" y="5609844"/>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Zoho Sprints board covering stories, bugs, tasks and attachments, with a running velocity chart.</a:t>
            </a:r>
            <a:endParaRPr lang="en-US" sz="1050" dirty="0"/>
          </a:p>
        </p:txBody>
      </p:sp>
      <p:sp>
        <p:nvSpPr>
          <p:cNvPr id="21" name="Shape 19"/>
          <p:cNvSpPr/>
          <p:nvPr/>
        </p:nvSpPr>
        <p:spPr>
          <a:xfrm>
            <a:off x="6242152" y="1997964"/>
            <a:ext cx="5172304" cy="4160520"/>
          </a:xfrm>
          <a:prstGeom prst="rect">
            <a:avLst/>
          </a:prstGeom>
          <a:solidFill>
            <a:srgbClr val="FBFCFC"/>
          </a:solidFill>
          <a:ln w="12700">
            <a:solidFill>
              <a:srgbClr val="C6D4CE"/>
            </a:solidFill>
            <a:prstDash val="dash"/>
          </a:ln>
        </p:spPr>
      </p:sp>
      <p:sp>
        <p:nvSpPr>
          <p:cNvPr id="22" name="Text 20"/>
          <p:cNvSpPr/>
          <p:nvPr/>
        </p:nvSpPr>
        <p:spPr>
          <a:xfrm>
            <a:off x="6242152" y="3749040"/>
            <a:ext cx="5172304" cy="237744"/>
          </a:xfrm>
          <a:prstGeom prst="rect">
            <a:avLst/>
          </a:prstGeom>
          <a:noFill/>
          <a:ln/>
        </p:spPr>
        <p:txBody>
          <a:bodyPr wrap="square" rtlCol="0" anchor="ctr"/>
          <a:lstStyle/>
          <a:p>
            <a:pPr algn="ctr" indent="0" marL="0">
              <a:buNone/>
            </a:pPr>
            <a:r>
              <a:rPr lang="en-US" sz="950" b="1" dirty="0">
                <a:solidFill>
                  <a:srgbClr val="9DAFA8"/>
                </a:solidFill>
                <a:latin typeface="Consolas" pitchFamily="34" charset="0"/>
                <a:ea typeface="Consolas" pitchFamily="34" charset="-122"/>
                <a:cs typeface="Consolas" pitchFamily="34" charset="-120"/>
              </a:rPr>
              <a:t>IMAGE PLACEHOLDER</a:t>
            </a:r>
            <a:endParaRPr lang="en-US" sz="950" dirty="0"/>
          </a:p>
        </p:txBody>
      </p:sp>
      <p:sp>
        <p:nvSpPr>
          <p:cNvPr id="23" name="Text 21"/>
          <p:cNvSpPr/>
          <p:nvPr/>
        </p:nvSpPr>
        <p:spPr>
          <a:xfrm>
            <a:off x="6607912" y="4023360"/>
            <a:ext cx="4440784" cy="457200"/>
          </a:xfrm>
          <a:prstGeom prst="rect">
            <a:avLst/>
          </a:prstGeom>
          <a:noFill/>
          <a:ln/>
        </p:spPr>
        <p:txBody>
          <a:bodyPr wrap="square" rtlCol="0" anchor="ctr"/>
          <a:lstStyle/>
          <a:p>
            <a:pPr algn="ctr" indent="0" marL="0">
              <a:lnSpc>
                <a:spcPct val="115000"/>
              </a:lnSpc>
              <a:buNone/>
            </a:pPr>
            <a:r>
              <a:rPr lang="en-US" sz="1100" dirty="0">
                <a:solidFill>
                  <a:srgbClr val="7C8F88"/>
                </a:solidFill>
                <a:latin typeface="Segoe UI" pitchFamily="34" charset="0"/>
                <a:ea typeface="Segoe UI" pitchFamily="34" charset="-122"/>
                <a:cs typeface="Segoe UI" pitchFamily="34" charset="-120"/>
              </a:rPr>
              <a:t>Screenshot of the Tasks board</a:t>
            </a:r>
            <a:endParaRPr lang="en-US" sz="1100" dirty="0"/>
          </a:p>
        </p:txBody>
      </p:sp>
      <p:sp>
        <p:nvSpPr>
          <p:cNvPr id="24" name="Shape 22"/>
          <p:cNvSpPr/>
          <p:nvPr/>
        </p:nvSpPr>
        <p:spPr>
          <a:xfrm>
            <a:off x="777240" y="6327648"/>
            <a:ext cx="10637215" cy="10973"/>
          </a:xfrm>
          <a:prstGeom prst="rect">
            <a:avLst/>
          </a:prstGeom>
          <a:solidFill>
            <a:srgbClr val="DCE5E1"/>
          </a:solidFill>
          <a:ln/>
        </p:spPr>
      </p:sp>
      <p:sp>
        <p:nvSpPr>
          <p:cNvPr id="25" name="Shape 23"/>
          <p:cNvSpPr/>
          <p:nvPr/>
        </p:nvSpPr>
        <p:spPr>
          <a:xfrm>
            <a:off x="777240" y="6446520"/>
            <a:ext cx="164592" cy="164592"/>
          </a:xfrm>
          <a:prstGeom prst="ellipse">
            <a:avLst/>
          </a:prstGeom>
          <a:solidFill>
            <a:srgbClr val="FFFFFF"/>
          </a:solidFill>
          <a:ln w="20320">
            <a:solidFill>
              <a:srgbClr val="0F8A5F"/>
            </a:solidFill>
            <a:prstDash val="solid"/>
          </a:ln>
        </p:spPr>
      </p:sp>
      <p:sp>
        <p:nvSpPr>
          <p:cNvPr id="26" name="Shape 24"/>
          <p:cNvSpPr/>
          <p:nvPr/>
        </p:nvSpPr>
        <p:spPr>
          <a:xfrm>
            <a:off x="834847" y="6504127"/>
            <a:ext cx="49378" cy="49378"/>
          </a:xfrm>
          <a:prstGeom prst="ellipse">
            <a:avLst/>
          </a:prstGeom>
          <a:solidFill>
            <a:srgbClr val="0F8A5F"/>
          </a:solidFill>
          <a:ln/>
        </p:spPr>
      </p:sp>
      <p:sp>
        <p:nvSpPr>
          <p:cNvPr id="27" name="Shape 25"/>
          <p:cNvSpPr/>
          <p:nvPr/>
        </p:nvSpPr>
        <p:spPr>
          <a:xfrm>
            <a:off x="903729" y="6456642"/>
            <a:ext cx="27981" cy="27981"/>
          </a:xfrm>
          <a:prstGeom prst="ellipse">
            <a:avLst/>
          </a:prstGeom>
          <a:solidFill>
            <a:srgbClr val="0F8A5F"/>
          </a:solidFill>
          <a:ln w="15240">
            <a:solidFill>
              <a:srgbClr val="FFFFFF"/>
            </a:solidFill>
            <a:prstDash val="solid"/>
          </a:ln>
        </p:spPr>
      </p:sp>
      <p:sp>
        <p:nvSpPr>
          <p:cNvPr id="28" name="Text 26"/>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9" name="Text 27"/>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Plan and ship work</a:t>
            </a:r>
            <a:endParaRPr lang="en-US" sz="850" dirty="0"/>
          </a:p>
        </p:txBody>
      </p:sp>
      <p:sp>
        <p:nvSpPr>
          <p:cNvPr id="30" name="Text 28"/>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4 / 12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CAPABILITIES 02</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Time, focus and team</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Orbit measures attention where it is actually spent, and keeps the team visible without a status meeting.</a:t>
            </a:r>
            <a:endParaRPr lang="en-US" sz="1250" dirty="0"/>
          </a:p>
        </p:txBody>
      </p:sp>
      <p:sp>
        <p:nvSpPr>
          <p:cNvPr id="5" name="Shape 3"/>
          <p:cNvSpPr/>
          <p:nvPr/>
        </p:nvSpPr>
        <p:spPr>
          <a:xfrm>
            <a:off x="777240" y="1997964"/>
            <a:ext cx="5172304" cy="950976"/>
          </a:xfrm>
          <a:prstGeom prst="rect">
            <a:avLst/>
          </a:prstGeom>
          <a:solidFill>
            <a:srgbClr val="F6F9F8"/>
          </a:solidFill>
          <a:ln w="9525">
            <a:solidFill>
              <a:srgbClr val="DCE5E1"/>
            </a:solidFill>
            <a:prstDash val="solid"/>
          </a:ln>
        </p:spPr>
      </p:sp>
      <p:sp>
        <p:nvSpPr>
          <p:cNvPr id="6" name="Shape 4"/>
          <p:cNvSpPr/>
          <p:nvPr/>
        </p:nvSpPr>
        <p:spPr>
          <a:xfrm>
            <a:off x="777240" y="1997964"/>
            <a:ext cx="41148" cy="950976"/>
          </a:xfrm>
          <a:prstGeom prst="rect">
            <a:avLst/>
          </a:prstGeom>
          <a:solidFill>
            <a:srgbClr val="0F8A5F"/>
          </a:solidFill>
          <a:ln/>
        </p:spPr>
      </p:sp>
      <p:sp>
        <p:nvSpPr>
          <p:cNvPr id="7" name="Text 5"/>
          <p:cNvSpPr/>
          <p:nvPr/>
        </p:nvSpPr>
        <p:spPr>
          <a:xfrm>
            <a:off x="978408" y="2116836"/>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Calendar</a:t>
            </a:r>
            <a:endParaRPr lang="en-US" sz="1250" dirty="0"/>
          </a:p>
        </p:txBody>
      </p:sp>
      <p:sp>
        <p:nvSpPr>
          <p:cNvPr id="8" name="Text 6"/>
          <p:cNvSpPr/>
          <p:nvPr/>
        </p:nvSpPr>
        <p:spPr>
          <a:xfrm>
            <a:off x="978408" y="2400300"/>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month view of focus blocks, meetings, deadlines and reviews, with Teams meetings created in place.</a:t>
            </a:r>
            <a:endParaRPr lang="en-US" sz="1050" dirty="0"/>
          </a:p>
        </p:txBody>
      </p:sp>
      <p:sp>
        <p:nvSpPr>
          <p:cNvPr id="9" name="Shape 7"/>
          <p:cNvSpPr/>
          <p:nvPr/>
        </p:nvSpPr>
        <p:spPr>
          <a:xfrm>
            <a:off x="777240" y="3067812"/>
            <a:ext cx="5172304" cy="950976"/>
          </a:xfrm>
          <a:prstGeom prst="rect">
            <a:avLst/>
          </a:prstGeom>
          <a:solidFill>
            <a:srgbClr val="F6F9F8"/>
          </a:solidFill>
          <a:ln w="9525">
            <a:solidFill>
              <a:srgbClr val="DCE5E1"/>
            </a:solidFill>
            <a:prstDash val="solid"/>
          </a:ln>
        </p:spPr>
      </p:sp>
      <p:sp>
        <p:nvSpPr>
          <p:cNvPr id="10" name="Shape 8"/>
          <p:cNvSpPr/>
          <p:nvPr/>
        </p:nvSpPr>
        <p:spPr>
          <a:xfrm>
            <a:off x="777240" y="3067812"/>
            <a:ext cx="41148" cy="950976"/>
          </a:xfrm>
          <a:prstGeom prst="rect">
            <a:avLst/>
          </a:prstGeom>
          <a:solidFill>
            <a:srgbClr val="0F8A5F"/>
          </a:solidFill>
          <a:ln/>
        </p:spPr>
      </p:sp>
      <p:sp>
        <p:nvSpPr>
          <p:cNvPr id="11" name="Text 9"/>
          <p:cNvSpPr/>
          <p:nvPr/>
        </p:nvSpPr>
        <p:spPr>
          <a:xfrm>
            <a:off x="978408" y="3186684"/>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Time tracking</a:t>
            </a:r>
            <a:endParaRPr lang="en-US" sz="1250" dirty="0"/>
          </a:p>
        </p:txBody>
      </p:sp>
      <p:sp>
        <p:nvSpPr>
          <p:cNvPr id="12" name="Text 10"/>
          <p:cNvSpPr/>
          <p:nvPr/>
        </p:nvSpPr>
        <p:spPr>
          <a:xfrm>
            <a:off x="978408" y="3470148"/>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Zoho timesheets alongside Orbit's own focus timer, recorded automatically as Orbit hours.</a:t>
            </a:r>
            <a:endParaRPr lang="en-US" sz="1050" dirty="0"/>
          </a:p>
        </p:txBody>
      </p:sp>
      <p:sp>
        <p:nvSpPr>
          <p:cNvPr id="13" name="Shape 11"/>
          <p:cNvSpPr/>
          <p:nvPr/>
        </p:nvSpPr>
        <p:spPr>
          <a:xfrm>
            <a:off x="777240" y="4137660"/>
            <a:ext cx="5172304" cy="950976"/>
          </a:xfrm>
          <a:prstGeom prst="rect">
            <a:avLst/>
          </a:prstGeom>
          <a:solidFill>
            <a:srgbClr val="F6F9F8"/>
          </a:solidFill>
          <a:ln w="9525">
            <a:solidFill>
              <a:srgbClr val="DCE5E1"/>
            </a:solidFill>
            <a:prstDash val="solid"/>
          </a:ln>
        </p:spPr>
      </p:sp>
      <p:sp>
        <p:nvSpPr>
          <p:cNvPr id="14" name="Shape 12"/>
          <p:cNvSpPr/>
          <p:nvPr/>
        </p:nvSpPr>
        <p:spPr>
          <a:xfrm>
            <a:off x="777240" y="4137660"/>
            <a:ext cx="41148" cy="950976"/>
          </a:xfrm>
          <a:prstGeom prst="rect">
            <a:avLst/>
          </a:prstGeom>
          <a:solidFill>
            <a:srgbClr val="0F8A5F"/>
          </a:solidFill>
          <a:ln/>
        </p:spPr>
      </p:sp>
      <p:sp>
        <p:nvSpPr>
          <p:cNvPr id="15" name="Text 13"/>
          <p:cNvSpPr/>
          <p:nvPr/>
        </p:nvSpPr>
        <p:spPr>
          <a:xfrm>
            <a:off x="978408" y="4256532"/>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Teams</a:t>
            </a:r>
            <a:endParaRPr lang="en-US" sz="1250" dirty="0"/>
          </a:p>
        </p:txBody>
      </p:sp>
      <p:sp>
        <p:nvSpPr>
          <p:cNvPr id="16" name="Text 14"/>
          <p:cNvSpPr/>
          <p:nvPr/>
        </p:nvSpPr>
        <p:spPr>
          <a:xfrm>
            <a:off x="978408" y="4539996"/>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Members, roles and invitations, plus live presence and a shared workspace activity feed.</a:t>
            </a:r>
            <a:endParaRPr lang="en-US" sz="1050" dirty="0"/>
          </a:p>
        </p:txBody>
      </p:sp>
      <p:sp>
        <p:nvSpPr>
          <p:cNvPr id="17" name="Shape 15"/>
          <p:cNvSpPr/>
          <p:nvPr/>
        </p:nvSpPr>
        <p:spPr>
          <a:xfrm>
            <a:off x="777240" y="5207508"/>
            <a:ext cx="5172304" cy="950976"/>
          </a:xfrm>
          <a:prstGeom prst="rect">
            <a:avLst/>
          </a:prstGeom>
          <a:solidFill>
            <a:srgbClr val="F6F9F8"/>
          </a:solidFill>
          <a:ln w="9525">
            <a:solidFill>
              <a:srgbClr val="DCE5E1"/>
            </a:solidFill>
            <a:prstDash val="solid"/>
          </a:ln>
        </p:spPr>
      </p:sp>
      <p:sp>
        <p:nvSpPr>
          <p:cNvPr id="18" name="Shape 16"/>
          <p:cNvSpPr/>
          <p:nvPr/>
        </p:nvSpPr>
        <p:spPr>
          <a:xfrm>
            <a:off x="777240" y="5207508"/>
            <a:ext cx="41148" cy="950976"/>
          </a:xfrm>
          <a:prstGeom prst="rect">
            <a:avLst/>
          </a:prstGeom>
          <a:solidFill>
            <a:srgbClr val="0F8A5F"/>
          </a:solidFill>
          <a:ln/>
        </p:spPr>
      </p:sp>
      <p:sp>
        <p:nvSpPr>
          <p:cNvPr id="19" name="Text 17"/>
          <p:cNvSpPr/>
          <p:nvPr/>
        </p:nvSpPr>
        <p:spPr>
          <a:xfrm>
            <a:off x="978408" y="5326380"/>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Notifications</a:t>
            </a:r>
            <a:endParaRPr lang="en-US" sz="1250" dirty="0"/>
          </a:p>
        </p:txBody>
      </p:sp>
      <p:sp>
        <p:nvSpPr>
          <p:cNvPr id="20" name="Text 18"/>
          <p:cNvSpPr/>
          <p:nvPr/>
        </p:nvSpPr>
        <p:spPr>
          <a:xfrm>
            <a:off x="978408" y="5609844"/>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single notification center with desktop alerts and configurable digest preferences.</a:t>
            </a:r>
            <a:endParaRPr lang="en-US" sz="1050" dirty="0"/>
          </a:p>
        </p:txBody>
      </p:sp>
      <p:sp>
        <p:nvSpPr>
          <p:cNvPr id="21" name="Shape 19"/>
          <p:cNvSpPr/>
          <p:nvPr/>
        </p:nvSpPr>
        <p:spPr>
          <a:xfrm>
            <a:off x="6242152" y="1997964"/>
            <a:ext cx="5172304" cy="4160520"/>
          </a:xfrm>
          <a:prstGeom prst="rect">
            <a:avLst/>
          </a:prstGeom>
          <a:solidFill>
            <a:srgbClr val="FBFCFC"/>
          </a:solidFill>
          <a:ln w="12700">
            <a:solidFill>
              <a:srgbClr val="C6D4CE"/>
            </a:solidFill>
            <a:prstDash val="dash"/>
          </a:ln>
        </p:spPr>
      </p:sp>
      <p:sp>
        <p:nvSpPr>
          <p:cNvPr id="22" name="Text 20"/>
          <p:cNvSpPr/>
          <p:nvPr/>
        </p:nvSpPr>
        <p:spPr>
          <a:xfrm>
            <a:off x="6242152" y="3749040"/>
            <a:ext cx="5172304" cy="237744"/>
          </a:xfrm>
          <a:prstGeom prst="rect">
            <a:avLst/>
          </a:prstGeom>
          <a:noFill/>
          <a:ln/>
        </p:spPr>
        <p:txBody>
          <a:bodyPr wrap="square" rtlCol="0" anchor="ctr"/>
          <a:lstStyle/>
          <a:p>
            <a:pPr algn="ctr" indent="0" marL="0">
              <a:buNone/>
            </a:pPr>
            <a:r>
              <a:rPr lang="en-US" sz="950" b="1" dirty="0">
                <a:solidFill>
                  <a:srgbClr val="9DAFA8"/>
                </a:solidFill>
                <a:latin typeface="Consolas" pitchFamily="34" charset="0"/>
                <a:ea typeface="Consolas" pitchFamily="34" charset="-122"/>
                <a:cs typeface="Consolas" pitchFamily="34" charset="-120"/>
              </a:rPr>
              <a:t>IMAGE PLACEHOLDER</a:t>
            </a:r>
            <a:endParaRPr lang="en-US" sz="950" dirty="0"/>
          </a:p>
        </p:txBody>
      </p:sp>
      <p:sp>
        <p:nvSpPr>
          <p:cNvPr id="23" name="Text 21"/>
          <p:cNvSpPr/>
          <p:nvPr/>
        </p:nvSpPr>
        <p:spPr>
          <a:xfrm>
            <a:off x="6607912" y="4023360"/>
            <a:ext cx="4440784" cy="457200"/>
          </a:xfrm>
          <a:prstGeom prst="rect">
            <a:avLst/>
          </a:prstGeom>
          <a:noFill/>
          <a:ln/>
        </p:spPr>
        <p:txBody>
          <a:bodyPr wrap="square" rtlCol="0" anchor="ctr"/>
          <a:lstStyle/>
          <a:p>
            <a:pPr algn="ctr" indent="0" marL="0">
              <a:lnSpc>
                <a:spcPct val="115000"/>
              </a:lnSpc>
              <a:buNone/>
            </a:pPr>
            <a:r>
              <a:rPr lang="en-US" sz="1100" dirty="0">
                <a:solidFill>
                  <a:srgbClr val="7C8F88"/>
                </a:solidFill>
                <a:latin typeface="Segoe UI" pitchFamily="34" charset="0"/>
                <a:ea typeface="Segoe UI" pitchFamily="34" charset="-122"/>
                <a:cs typeface="Segoe UI" pitchFamily="34" charset="-120"/>
              </a:rPr>
              <a:t>Screenshot of the Calendar and focus timer</a:t>
            </a:r>
            <a:endParaRPr lang="en-US" sz="1100" dirty="0"/>
          </a:p>
        </p:txBody>
      </p:sp>
      <p:sp>
        <p:nvSpPr>
          <p:cNvPr id="24" name="Shape 22"/>
          <p:cNvSpPr/>
          <p:nvPr/>
        </p:nvSpPr>
        <p:spPr>
          <a:xfrm>
            <a:off x="777240" y="6327648"/>
            <a:ext cx="10637215" cy="10973"/>
          </a:xfrm>
          <a:prstGeom prst="rect">
            <a:avLst/>
          </a:prstGeom>
          <a:solidFill>
            <a:srgbClr val="DCE5E1"/>
          </a:solidFill>
          <a:ln/>
        </p:spPr>
      </p:sp>
      <p:sp>
        <p:nvSpPr>
          <p:cNvPr id="25" name="Shape 23"/>
          <p:cNvSpPr/>
          <p:nvPr/>
        </p:nvSpPr>
        <p:spPr>
          <a:xfrm>
            <a:off x="777240" y="6446520"/>
            <a:ext cx="164592" cy="164592"/>
          </a:xfrm>
          <a:prstGeom prst="ellipse">
            <a:avLst/>
          </a:prstGeom>
          <a:solidFill>
            <a:srgbClr val="FFFFFF"/>
          </a:solidFill>
          <a:ln w="20320">
            <a:solidFill>
              <a:srgbClr val="0F8A5F"/>
            </a:solidFill>
            <a:prstDash val="solid"/>
          </a:ln>
        </p:spPr>
      </p:sp>
      <p:sp>
        <p:nvSpPr>
          <p:cNvPr id="26" name="Shape 24"/>
          <p:cNvSpPr/>
          <p:nvPr/>
        </p:nvSpPr>
        <p:spPr>
          <a:xfrm>
            <a:off x="834847" y="6504127"/>
            <a:ext cx="49378" cy="49378"/>
          </a:xfrm>
          <a:prstGeom prst="ellipse">
            <a:avLst/>
          </a:prstGeom>
          <a:solidFill>
            <a:srgbClr val="0F8A5F"/>
          </a:solidFill>
          <a:ln/>
        </p:spPr>
      </p:sp>
      <p:sp>
        <p:nvSpPr>
          <p:cNvPr id="27" name="Shape 25"/>
          <p:cNvSpPr/>
          <p:nvPr/>
        </p:nvSpPr>
        <p:spPr>
          <a:xfrm>
            <a:off x="903729" y="6456642"/>
            <a:ext cx="27981" cy="27981"/>
          </a:xfrm>
          <a:prstGeom prst="ellipse">
            <a:avLst/>
          </a:prstGeom>
          <a:solidFill>
            <a:srgbClr val="0F8A5F"/>
          </a:solidFill>
          <a:ln w="15240">
            <a:solidFill>
              <a:srgbClr val="FFFFFF"/>
            </a:solidFill>
            <a:prstDash val="solid"/>
          </a:ln>
        </p:spPr>
      </p:sp>
      <p:sp>
        <p:nvSpPr>
          <p:cNvPr id="28" name="Text 26"/>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9" name="Text 27"/>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Time, focus and team</a:t>
            </a:r>
            <a:endParaRPr lang="en-US" sz="850" dirty="0"/>
          </a:p>
        </p:txBody>
      </p:sp>
      <p:sp>
        <p:nvSpPr>
          <p:cNvPr id="30" name="Text 28"/>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5 / 12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CAPABILITIES 03</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Communicate and operate</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The operational surfaces a developer reaches for daily, brought inside the same window as the work itself.</a:t>
            </a:r>
            <a:endParaRPr lang="en-US" sz="1250" dirty="0"/>
          </a:p>
        </p:txBody>
      </p:sp>
      <p:sp>
        <p:nvSpPr>
          <p:cNvPr id="5" name="Shape 3"/>
          <p:cNvSpPr/>
          <p:nvPr/>
        </p:nvSpPr>
        <p:spPr>
          <a:xfrm>
            <a:off x="777240" y="1997964"/>
            <a:ext cx="5172304" cy="950976"/>
          </a:xfrm>
          <a:prstGeom prst="rect">
            <a:avLst/>
          </a:prstGeom>
          <a:solidFill>
            <a:srgbClr val="F6F9F8"/>
          </a:solidFill>
          <a:ln w="9525">
            <a:solidFill>
              <a:srgbClr val="DCE5E1"/>
            </a:solidFill>
            <a:prstDash val="solid"/>
          </a:ln>
        </p:spPr>
      </p:sp>
      <p:sp>
        <p:nvSpPr>
          <p:cNvPr id="6" name="Shape 4"/>
          <p:cNvSpPr/>
          <p:nvPr/>
        </p:nvSpPr>
        <p:spPr>
          <a:xfrm>
            <a:off x="777240" y="1997964"/>
            <a:ext cx="41148" cy="950976"/>
          </a:xfrm>
          <a:prstGeom prst="rect">
            <a:avLst/>
          </a:prstGeom>
          <a:solidFill>
            <a:srgbClr val="0F8A5F"/>
          </a:solidFill>
          <a:ln/>
        </p:spPr>
      </p:sp>
      <p:sp>
        <p:nvSpPr>
          <p:cNvPr id="7" name="Text 5"/>
          <p:cNvSpPr/>
          <p:nvPr/>
        </p:nvSpPr>
        <p:spPr>
          <a:xfrm>
            <a:off x="978408" y="2116836"/>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Mail</a:t>
            </a:r>
            <a:endParaRPr lang="en-US" sz="1250" dirty="0"/>
          </a:p>
        </p:txBody>
      </p:sp>
      <p:sp>
        <p:nvSpPr>
          <p:cNvPr id="8" name="Text 6"/>
          <p:cNvSpPr/>
          <p:nvPr/>
        </p:nvSpPr>
        <p:spPr>
          <a:xfrm>
            <a:off x="978408" y="2400300"/>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Gmail inbox and composer with templates, scheduled send, routing rules and AI-assisted drafting.</a:t>
            </a:r>
            <a:endParaRPr lang="en-US" sz="1050" dirty="0"/>
          </a:p>
        </p:txBody>
      </p:sp>
      <p:sp>
        <p:nvSpPr>
          <p:cNvPr id="9" name="Shape 7"/>
          <p:cNvSpPr/>
          <p:nvPr/>
        </p:nvSpPr>
        <p:spPr>
          <a:xfrm>
            <a:off x="777240" y="3067812"/>
            <a:ext cx="5172304" cy="950976"/>
          </a:xfrm>
          <a:prstGeom prst="rect">
            <a:avLst/>
          </a:prstGeom>
          <a:solidFill>
            <a:srgbClr val="F6F9F8"/>
          </a:solidFill>
          <a:ln w="9525">
            <a:solidFill>
              <a:srgbClr val="DCE5E1"/>
            </a:solidFill>
            <a:prstDash val="solid"/>
          </a:ln>
        </p:spPr>
      </p:sp>
      <p:sp>
        <p:nvSpPr>
          <p:cNvPr id="10" name="Shape 8"/>
          <p:cNvSpPr/>
          <p:nvPr/>
        </p:nvSpPr>
        <p:spPr>
          <a:xfrm>
            <a:off x="777240" y="3067812"/>
            <a:ext cx="41148" cy="950976"/>
          </a:xfrm>
          <a:prstGeom prst="rect">
            <a:avLst/>
          </a:prstGeom>
          <a:solidFill>
            <a:srgbClr val="0F8A5F"/>
          </a:solidFill>
          <a:ln/>
        </p:spPr>
      </p:sp>
      <p:sp>
        <p:nvSpPr>
          <p:cNvPr id="11" name="Text 9"/>
          <p:cNvSpPr/>
          <p:nvPr/>
        </p:nvSpPr>
        <p:spPr>
          <a:xfrm>
            <a:off x="978408" y="3186684"/>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Postgres</a:t>
            </a:r>
            <a:endParaRPr lang="en-US" sz="1250" dirty="0"/>
          </a:p>
        </p:txBody>
      </p:sp>
      <p:sp>
        <p:nvSpPr>
          <p:cNvPr id="12" name="Text 10"/>
          <p:cNvSpPr/>
          <p:nvPr/>
        </p:nvSpPr>
        <p:spPr>
          <a:xfrm>
            <a:off x="978408" y="3470148"/>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Browse schemas, run queries, compare and diff structures, seed data and manage backups.</a:t>
            </a:r>
            <a:endParaRPr lang="en-US" sz="1050" dirty="0"/>
          </a:p>
        </p:txBody>
      </p:sp>
      <p:sp>
        <p:nvSpPr>
          <p:cNvPr id="13" name="Shape 11"/>
          <p:cNvSpPr/>
          <p:nvPr/>
        </p:nvSpPr>
        <p:spPr>
          <a:xfrm>
            <a:off x="777240" y="4137660"/>
            <a:ext cx="5172304" cy="950976"/>
          </a:xfrm>
          <a:prstGeom prst="rect">
            <a:avLst/>
          </a:prstGeom>
          <a:solidFill>
            <a:srgbClr val="F6F9F8"/>
          </a:solidFill>
          <a:ln w="9525">
            <a:solidFill>
              <a:srgbClr val="DCE5E1"/>
            </a:solidFill>
            <a:prstDash val="solid"/>
          </a:ln>
        </p:spPr>
      </p:sp>
      <p:sp>
        <p:nvSpPr>
          <p:cNvPr id="14" name="Shape 12"/>
          <p:cNvSpPr/>
          <p:nvPr/>
        </p:nvSpPr>
        <p:spPr>
          <a:xfrm>
            <a:off x="777240" y="4137660"/>
            <a:ext cx="41148" cy="950976"/>
          </a:xfrm>
          <a:prstGeom prst="rect">
            <a:avLst/>
          </a:prstGeom>
          <a:solidFill>
            <a:srgbClr val="0F8A5F"/>
          </a:solidFill>
          <a:ln/>
        </p:spPr>
      </p:sp>
      <p:sp>
        <p:nvSpPr>
          <p:cNvPr id="15" name="Text 13"/>
          <p:cNvSpPr/>
          <p:nvPr/>
        </p:nvSpPr>
        <p:spPr>
          <a:xfrm>
            <a:off x="978408" y="4256532"/>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Docker</a:t>
            </a:r>
            <a:endParaRPr lang="en-US" sz="1250" dirty="0"/>
          </a:p>
        </p:txBody>
      </p:sp>
      <p:sp>
        <p:nvSpPr>
          <p:cNvPr id="16" name="Text 14"/>
          <p:cNvSpPr/>
          <p:nvPr/>
        </p:nvSpPr>
        <p:spPr>
          <a:xfrm>
            <a:off x="978408" y="4539996"/>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Start, stop, inspect and exec into containers, with image and compose management.</a:t>
            </a:r>
            <a:endParaRPr lang="en-US" sz="1050" dirty="0"/>
          </a:p>
        </p:txBody>
      </p:sp>
      <p:sp>
        <p:nvSpPr>
          <p:cNvPr id="17" name="Shape 15"/>
          <p:cNvSpPr/>
          <p:nvPr/>
        </p:nvSpPr>
        <p:spPr>
          <a:xfrm>
            <a:off x="777240" y="5207508"/>
            <a:ext cx="5172304" cy="950976"/>
          </a:xfrm>
          <a:prstGeom prst="rect">
            <a:avLst/>
          </a:prstGeom>
          <a:solidFill>
            <a:srgbClr val="F6F9F8"/>
          </a:solidFill>
          <a:ln w="9525">
            <a:solidFill>
              <a:srgbClr val="DCE5E1"/>
            </a:solidFill>
            <a:prstDash val="solid"/>
          </a:ln>
        </p:spPr>
      </p:sp>
      <p:sp>
        <p:nvSpPr>
          <p:cNvPr id="18" name="Shape 16"/>
          <p:cNvSpPr/>
          <p:nvPr/>
        </p:nvSpPr>
        <p:spPr>
          <a:xfrm>
            <a:off x="777240" y="5207508"/>
            <a:ext cx="41148" cy="950976"/>
          </a:xfrm>
          <a:prstGeom prst="rect">
            <a:avLst/>
          </a:prstGeom>
          <a:solidFill>
            <a:srgbClr val="0F8A5F"/>
          </a:solidFill>
          <a:ln/>
        </p:spPr>
      </p:sp>
      <p:sp>
        <p:nvSpPr>
          <p:cNvPr id="19" name="Text 17"/>
          <p:cNvSpPr/>
          <p:nvPr/>
        </p:nvSpPr>
        <p:spPr>
          <a:xfrm>
            <a:off x="978408" y="5326380"/>
            <a:ext cx="4788256"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Audit log</a:t>
            </a:r>
            <a:endParaRPr lang="en-US" sz="1250" dirty="0"/>
          </a:p>
        </p:txBody>
      </p:sp>
      <p:sp>
        <p:nvSpPr>
          <p:cNvPr id="20" name="Text 18"/>
          <p:cNvSpPr/>
          <p:nvPr/>
        </p:nvSpPr>
        <p:spPr>
          <a:xfrm>
            <a:off x="978408" y="5609844"/>
            <a:ext cx="4788256"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searchable record of every user and system action taken across the workspace.</a:t>
            </a:r>
            <a:endParaRPr lang="en-US" sz="1050" dirty="0"/>
          </a:p>
        </p:txBody>
      </p:sp>
      <p:sp>
        <p:nvSpPr>
          <p:cNvPr id="21" name="Shape 19"/>
          <p:cNvSpPr/>
          <p:nvPr/>
        </p:nvSpPr>
        <p:spPr>
          <a:xfrm>
            <a:off x="6242152" y="1997964"/>
            <a:ext cx="5172304" cy="4160520"/>
          </a:xfrm>
          <a:prstGeom prst="rect">
            <a:avLst/>
          </a:prstGeom>
          <a:solidFill>
            <a:srgbClr val="FBFCFC"/>
          </a:solidFill>
          <a:ln w="12700">
            <a:solidFill>
              <a:srgbClr val="C6D4CE"/>
            </a:solidFill>
            <a:prstDash val="dash"/>
          </a:ln>
        </p:spPr>
      </p:sp>
      <p:sp>
        <p:nvSpPr>
          <p:cNvPr id="22" name="Text 20"/>
          <p:cNvSpPr/>
          <p:nvPr/>
        </p:nvSpPr>
        <p:spPr>
          <a:xfrm>
            <a:off x="6242152" y="3749040"/>
            <a:ext cx="5172304" cy="237744"/>
          </a:xfrm>
          <a:prstGeom prst="rect">
            <a:avLst/>
          </a:prstGeom>
          <a:noFill/>
          <a:ln/>
        </p:spPr>
        <p:txBody>
          <a:bodyPr wrap="square" rtlCol="0" anchor="ctr"/>
          <a:lstStyle/>
          <a:p>
            <a:pPr algn="ctr" indent="0" marL="0">
              <a:buNone/>
            </a:pPr>
            <a:r>
              <a:rPr lang="en-US" sz="950" b="1" dirty="0">
                <a:solidFill>
                  <a:srgbClr val="9DAFA8"/>
                </a:solidFill>
                <a:latin typeface="Consolas" pitchFamily="34" charset="0"/>
                <a:ea typeface="Consolas" pitchFamily="34" charset="-122"/>
                <a:cs typeface="Consolas" pitchFamily="34" charset="-120"/>
              </a:rPr>
              <a:t>IMAGE PLACEHOLDER</a:t>
            </a:r>
            <a:endParaRPr lang="en-US" sz="950" dirty="0"/>
          </a:p>
        </p:txBody>
      </p:sp>
      <p:sp>
        <p:nvSpPr>
          <p:cNvPr id="23" name="Text 21"/>
          <p:cNvSpPr/>
          <p:nvPr/>
        </p:nvSpPr>
        <p:spPr>
          <a:xfrm>
            <a:off x="6607912" y="4023360"/>
            <a:ext cx="4440784" cy="457200"/>
          </a:xfrm>
          <a:prstGeom prst="rect">
            <a:avLst/>
          </a:prstGeom>
          <a:noFill/>
          <a:ln/>
        </p:spPr>
        <p:txBody>
          <a:bodyPr wrap="square" rtlCol="0" anchor="ctr"/>
          <a:lstStyle/>
          <a:p>
            <a:pPr algn="ctr" indent="0" marL="0">
              <a:lnSpc>
                <a:spcPct val="115000"/>
              </a:lnSpc>
              <a:buNone/>
            </a:pPr>
            <a:r>
              <a:rPr lang="en-US" sz="1100" dirty="0">
                <a:solidFill>
                  <a:srgbClr val="7C8F88"/>
                </a:solidFill>
                <a:latin typeface="Segoe UI" pitchFamily="34" charset="0"/>
                <a:ea typeface="Segoe UI" pitchFamily="34" charset="-122"/>
                <a:cs typeface="Segoe UI" pitchFamily="34" charset="-120"/>
              </a:rPr>
              <a:t>Screenshot of the Postgres explorer or Docker panel</a:t>
            </a:r>
            <a:endParaRPr lang="en-US" sz="1100" dirty="0"/>
          </a:p>
        </p:txBody>
      </p:sp>
      <p:sp>
        <p:nvSpPr>
          <p:cNvPr id="24" name="Shape 22"/>
          <p:cNvSpPr/>
          <p:nvPr/>
        </p:nvSpPr>
        <p:spPr>
          <a:xfrm>
            <a:off x="777240" y="6327648"/>
            <a:ext cx="10637215" cy="10973"/>
          </a:xfrm>
          <a:prstGeom prst="rect">
            <a:avLst/>
          </a:prstGeom>
          <a:solidFill>
            <a:srgbClr val="DCE5E1"/>
          </a:solidFill>
          <a:ln/>
        </p:spPr>
      </p:sp>
      <p:sp>
        <p:nvSpPr>
          <p:cNvPr id="25" name="Shape 23"/>
          <p:cNvSpPr/>
          <p:nvPr/>
        </p:nvSpPr>
        <p:spPr>
          <a:xfrm>
            <a:off x="777240" y="6446520"/>
            <a:ext cx="164592" cy="164592"/>
          </a:xfrm>
          <a:prstGeom prst="ellipse">
            <a:avLst/>
          </a:prstGeom>
          <a:solidFill>
            <a:srgbClr val="FFFFFF"/>
          </a:solidFill>
          <a:ln w="20320">
            <a:solidFill>
              <a:srgbClr val="0F8A5F"/>
            </a:solidFill>
            <a:prstDash val="solid"/>
          </a:ln>
        </p:spPr>
      </p:sp>
      <p:sp>
        <p:nvSpPr>
          <p:cNvPr id="26" name="Shape 24"/>
          <p:cNvSpPr/>
          <p:nvPr/>
        </p:nvSpPr>
        <p:spPr>
          <a:xfrm>
            <a:off x="834847" y="6504127"/>
            <a:ext cx="49378" cy="49378"/>
          </a:xfrm>
          <a:prstGeom prst="ellipse">
            <a:avLst/>
          </a:prstGeom>
          <a:solidFill>
            <a:srgbClr val="0F8A5F"/>
          </a:solidFill>
          <a:ln/>
        </p:spPr>
      </p:sp>
      <p:sp>
        <p:nvSpPr>
          <p:cNvPr id="27" name="Shape 25"/>
          <p:cNvSpPr/>
          <p:nvPr/>
        </p:nvSpPr>
        <p:spPr>
          <a:xfrm>
            <a:off x="903729" y="6456642"/>
            <a:ext cx="27981" cy="27981"/>
          </a:xfrm>
          <a:prstGeom prst="ellipse">
            <a:avLst/>
          </a:prstGeom>
          <a:solidFill>
            <a:srgbClr val="0F8A5F"/>
          </a:solidFill>
          <a:ln w="15240">
            <a:solidFill>
              <a:srgbClr val="FFFFFF"/>
            </a:solidFill>
            <a:prstDash val="solid"/>
          </a:ln>
        </p:spPr>
      </p:sp>
      <p:sp>
        <p:nvSpPr>
          <p:cNvPr id="28" name="Text 26"/>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9" name="Text 27"/>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Communicate and operate</a:t>
            </a:r>
            <a:endParaRPr lang="en-US" sz="850" dirty="0"/>
          </a:p>
        </p:txBody>
      </p:sp>
      <p:sp>
        <p:nvSpPr>
          <p:cNvPr id="30" name="Text 28"/>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6 / 12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INTELLIGENCE</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AI built into the workflow, not bolted onto it</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Because Orbit already holds the tickets, code, calendar and history, its AI works from real context instead of asking the user to supply it.</a:t>
            </a:r>
            <a:endParaRPr lang="en-US" sz="1250" dirty="0"/>
          </a:p>
        </p:txBody>
      </p:sp>
      <p:sp>
        <p:nvSpPr>
          <p:cNvPr id="5" name="Shape 3"/>
          <p:cNvSpPr/>
          <p:nvPr/>
        </p:nvSpPr>
        <p:spPr>
          <a:xfrm>
            <a:off x="777240" y="2148840"/>
            <a:ext cx="5190592" cy="950976"/>
          </a:xfrm>
          <a:prstGeom prst="rect">
            <a:avLst/>
          </a:prstGeom>
          <a:solidFill>
            <a:srgbClr val="F6F9F8"/>
          </a:solidFill>
          <a:ln w="9525">
            <a:solidFill>
              <a:srgbClr val="DCE5E1"/>
            </a:solidFill>
            <a:prstDash val="solid"/>
          </a:ln>
        </p:spPr>
      </p:sp>
      <p:sp>
        <p:nvSpPr>
          <p:cNvPr id="6" name="Shape 4"/>
          <p:cNvSpPr/>
          <p:nvPr/>
        </p:nvSpPr>
        <p:spPr>
          <a:xfrm>
            <a:off x="777240" y="2148840"/>
            <a:ext cx="41148" cy="950976"/>
          </a:xfrm>
          <a:prstGeom prst="rect">
            <a:avLst/>
          </a:prstGeom>
          <a:solidFill>
            <a:srgbClr val="0F8A5F"/>
          </a:solidFill>
          <a:ln/>
        </p:spPr>
      </p:sp>
      <p:sp>
        <p:nvSpPr>
          <p:cNvPr id="7" name="Text 5"/>
          <p:cNvSpPr/>
          <p:nvPr/>
        </p:nvSpPr>
        <p:spPr>
          <a:xfrm>
            <a:off x="978408" y="2267712"/>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Ask AI</a:t>
            </a:r>
            <a:endParaRPr lang="en-US" sz="1250" dirty="0"/>
          </a:p>
        </p:txBody>
      </p:sp>
      <p:sp>
        <p:nvSpPr>
          <p:cNvPr id="8" name="Text 6"/>
          <p:cNvSpPr/>
          <p:nvPr/>
        </p:nvSpPr>
        <p:spPr>
          <a:xfrm>
            <a:off x="978408" y="2551176"/>
            <a:ext cx="4806544"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context-aware assistant that already knows the project, task or ticket in front of you.</a:t>
            </a:r>
            <a:endParaRPr lang="en-US" sz="1050" dirty="0"/>
          </a:p>
        </p:txBody>
      </p:sp>
      <p:sp>
        <p:nvSpPr>
          <p:cNvPr id="9" name="Shape 7"/>
          <p:cNvSpPr/>
          <p:nvPr/>
        </p:nvSpPr>
        <p:spPr>
          <a:xfrm>
            <a:off x="6223864" y="2148840"/>
            <a:ext cx="5190592" cy="950976"/>
          </a:xfrm>
          <a:prstGeom prst="rect">
            <a:avLst/>
          </a:prstGeom>
          <a:solidFill>
            <a:srgbClr val="F6F9F8"/>
          </a:solidFill>
          <a:ln w="9525">
            <a:solidFill>
              <a:srgbClr val="DCE5E1"/>
            </a:solidFill>
            <a:prstDash val="solid"/>
          </a:ln>
        </p:spPr>
      </p:sp>
      <p:sp>
        <p:nvSpPr>
          <p:cNvPr id="10" name="Shape 8"/>
          <p:cNvSpPr/>
          <p:nvPr/>
        </p:nvSpPr>
        <p:spPr>
          <a:xfrm>
            <a:off x="6223864" y="2148840"/>
            <a:ext cx="41148" cy="950976"/>
          </a:xfrm>
          <a:prstGeom prst="rect">
            <a:avLst/>
          </a:prstGeom>
          <a:solidFill>
            <a:srgbClr val="0F8A5F"/>
          </a:solidFill>
          <a:ln/>
        </p:spPr>
      </p:sp>
      <p:sp>
        <p:nvSpPr>
          <p:cNvPr id="11" name="Text 9"/>
          <p:cNvSpPr/>
          <p:nvPr/>
        </p:nvSpPr>
        <p:spPr>
          <a:xfrm>
            <a:off x="6425032" y="2267712"/>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Ticket triage</a:t>
            </a:r>
            <a:endParaRPr lang="en-US" sz="1250" dirty="0"/>
          </a:p>
        </p:txBody>
      </p:sp>
      <p:sp>
        <p:nvSpPr>
          <p:cNvPr id="12" name="Text 10"/>
          <p:cNvSpPr/>
          <p:nvPr/>
        </p:nvSpPr>
        <p:spPr>
          <a:xfrm>
            <a:off x="6425032" y="2551176"/>
            <a:ext cx="4806544"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New tickets arrive with a suggested priority, owning project and a written summary.</a:t>
            </a:r>
            <a:endParaRPr lang="en-US" sz="1050" dirty="0"/>
          </a:p>
        </p:txBody>
      </p:sp>
      <p:sp>
        <p:nvSpPr>
          <p:cNvPr id="13" name="Shape 11"/>
          <p:cNvSpPr/>
          <p:nvPr/>
        </p:nvSpPr>
        <p:spPr>
          <a:xfrm>
            <a:off x="777240" y="3282696"/>
            <a:ext cx="5190592" cy="950976"/>
          </a:xfrm>
          <a:prstGeom prst="rect">
            <a:avLst/>
          </a:prstGeom>
          <a:solidFill>
            <a:srgbClr val="F6F9F8"/>
          </a:solidFill>
          <a:ln w="9525">
            <a:solidFill>
              <a:srgbClr val="DCE5E1"/>
            </a:solidFill>
            <a:prstDash val="solid"/>
          </a:ln>
        </p:spPr>
      </p:sp>
      <p:sp>
        <p:nvSpPr>
          <p:cNvPr id="14" name="Shape 12"/>
          <p:cNvSpPr/>
          <p:nvPr/>
        </p:nvSpPr>
        <p:spPr>
          <a:xfrm>
            <a:off x="777240" y="3282696"/>
            <a:ext cx="41148" cy="950976"/>
          </a:xfrm>
          <a:prstGeom prst="rect">
            <a:avLst/>
          </a:prstGeom>
          <a:solidFill>
            <a:srgbClr val="0F8A5F"/>
          </a:solidFill>
          <a:ln/>
        </p:spPr>
      </p:sp>
      <p:sp>
        <p:nvSpPr>
          <p:cNvPr id="15" name="Text 13"/>
          <p:cNvSpPr/>
          <p:nvPr/>
        </p:nvSpPr>
        <p:spPr>
          <a:xfrm>
            <a:off x="978408" y="3401568"/>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Commit and PR writer</a:t>
            </a:r>
            <a:endParaRPr lang="en-US" sz="1250" dirty="0"/>
          </a:p>
        </p:txBody>
      </p:sp>
      <p:sp>
        <p:nvSpPr>
          <p:cNvPr id="16" name="Text 14"/>
          <p:cNvSpPr/>
          <p:nvPr/>
        </p:nvSpPr>
        <p:spPr>
          <a:xfrm>
            <a:off x="978408" y="3685032"/>
            <a:ext cx="4806544"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Drafts commit messages and pull-request descriptions from the real diff.</a:t>
            </a:r>
            <a:endParaRPr lang="en-US" sz="1050" dirty="0"/>
          </a:p>
        </p:txBody>
      </p:sp>
      <p:sp>
        <p:nvSpPr>
          <p:cNvPr id="17" name="Shape 15"/>
          <p:cNvSpPr/>
          <p:nvPr/>
        </p:nvSpPr>
        <p:spPr>
          <a:xfrm>
            <a:off x="6223864" y="3282696"/>
            <a:ext cx="5190592" cy="950976"/>
          </a:xfrm>
          <a:prstGeom prst="rect">
            <a:avLst/>
          </a:prstGeom>
          <a:solidFill>
            <a:srgbClr val="F6F9F8"/>
          </a:solidFill>
          <a:ln w="9525">
            <a:solidFill>
              <a:srgbClr val="DCE5E1"/>
            </a:solidFill>
            <a:prstDash val="solid"/>
          </a:ln>
        </p:spPr>
      </p:sp>
      <p:sp>
        <p:nvSpPr>
          <p:cNvPr id="18" name="Shape 16"/>
          <p:cNvSpPr/>
          <p:nvPr/>
        </p:nvSpPr>
        <p:spPr>
          <a:xfrm>
            <a:off x="6223864" y="3282696"/>
            <a:ext cx="41148" cy="950976"/>
          </a:xfrm>
          <a:prstGeom prst="rect">
            <a:avLst/>
          </a:prstGeom>
          <a:solidFill>
            <a:srgbClr val="0F8A5F"/>
          </a:solidFill>
          <a:ln/>
        </p:spPr>
      </p:sp>
      <p:sp>
        <p:nvSpPr>
          <p:cNvPr id="19" name="Text 17"/>
          <p:cNvSpPr/>
          <p:nvPr/>
        </p:nvSpPr>
        <p:spPr>
          <a:xfrm>
            <a:off x="6425032" y="3401568"/>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Daily brief and weekly digest</a:t>
            </a:r>
            <a:endParaRPr lang="en-US" sz="1250" dirty="0"/>
          </a:p>
        </p:txBody>
      </p:sp>
      <p:sp>
        <p:nvSpPr>
          <p:cNvPr id="20" name="Text 18"/>
          <p:cNvSpPr/>
          <p:nvPr/>
        </p:nvSpPr>
        <p:spPr>
          <a:xfrm>
            <a:off x="6425032" y="3685032"/>
            <a:ext cx="4806544"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Scheduled summaries of pull requests, CI runs, Sentry issues and sprint movement.</a:t>
            </a:r>
            <a:endParaRPr lang="en-US" sz="1050" dirty="0"/>
          </a:p>
        </p:txBody>
      </p:sp>
      <p:sp>
        <p:nvSpPr>
          <p:cNvPr id="21" name="Shape 19"/>
          <p:cNvSpPr/>
          <p:nvPr/>
        </p:nvSpPr>
        <p:spPr>
          <a:xfrm>
            <a:off x="777240" y="4416552"/>
            <a:ext cx="5190592" cy="950976"/>
          </a:xfrm>
          <a:prstGeom prst="rect">
            <a:avLst/>
          </a:prstGeom>
          <a:solidFill>
            <a:srgbClr val="F6F9F8"/>
          </a:solidFill>
          <a:ln w="9525">
            <a:solidFill>
              <a:srgbClr val="DCE5E1"/>
            </a:solidFill>
            <a:prstDash val="solid"/>
          </a:ln>
        </p:spPr>
      </p:sp>
      <p:sp>
        <p:nvSpPr>
          <p:cNvPr id="22" name="Shape 20"/>
          <p:cNvSpPr/>
          <p:nvPr/>
        </p:nvSpPr>
        <p:spPr>
          <a:xfrm>
            <a:off x="777240" y="4416552"/>
            <a:ext cx="41148" cy="950976"/>
          </a:xfrm>
          <a:prstGeom prst="rect">
            <a:avLst/>
          </a:prstGeom>
          <a:solidFill>
            <a:srgbClr val="0F8A5F"/>
          </a:solidFill>
          <a:ln/>
        </p:spPr>
      </p:sp>
      <p:sp>
        <p:nvSpPr>
          <p:cNvPr id="23" name="Text 21"/>
          <p:cNvSpPr/>
          <p:nvPr/>
        </p:nvSpPr>
        <p:spPr>
          <a:xfrm>
            <a:off x="978408" y="4535424"/>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Automation rules</a:t>
            </a:r>
            <a:endParaRPr lang="en-US" sz="1250" dirty="0"/>
          </a:p>
        </p:txBody>
      </p:sp>
      <p:sp>
        <p:nvSpPr>
          <p:cNvPr id="24" name="Text 22"/>
          <p:cNvSpPr/>
          <p:nvPr/>
        </p:nvSpPr>
        <p:spPr>
          <a:xfrm>
            <a:off x="978408" y="4818888"/>
            <a:ext cx="4806544"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When-this-then-that rules that fire the moment something in the workspace changes.</a:t>
            </a:r>
            <a:endParaRPr lang="en-US" sz="1050" dirty="0"/>
          </a:p>
        </p:txBody>
      </p:sp>
      <p:sp>
        <p:nvSpPr>
          <p:cNvPr id="25" name="Shape 23"/>
          <p:cNvSpPr/>
          <p:nvPr/>
        </p:nvSpPr>
        <p:spPr>
          <a:xfrm>
            <a:off x="6223864" y="4416552"/>
            <a:ext cx="5190592" cy="950976"/>
          </a:xfrm>
          <a:prstGeom prst="rect">
            <a:avLst/>
          </a:prstGeom>
          <a:solidFill>
            <a:srgbClr val="F6F9F8"/>
          </a:solidFill>
          <a:ln w="9525">
            <a:solidFill>
              <a:srgbClr val="DCE5E1"/>
            </a:solidFill>
            <a:prstDash val="solid"/>
          </a:ln>
        </p:spPr>
      </p:sp>
      <p:sp>
        <p:nvSpPr>
          <p:cNvPr id="26" name="Shape 24"/>
          <p:cNvSpPr/>
          <p:nvPr/>
        </p:nvSpPr>
        <p:spPr>
          <a:xfrm>
            <a:off x="6223864" y="4416552"/>
            <a:ext cx="41148" cy="950976"/>
          </a:xfrm>
          <a:prstGeom prst="rect">
            <a:avLst/>
          </a:prstGeom>
          <a:solidFill>
            <a:srgbClr val="0F8A5F"/>
          </a:solidFill>
          <a:ln/>
        </p:spPr>
      </p:sp>
      <p:sp>
        <p:nvSpPr>
          <p:cNvPr id="27" name="Text 25"/>
          <p:cNvSpPr/>
          <p:nvPr/>
        </p:nvSpPr>
        <p:spPr>
          <a:xfrm>
            <a:off x="6425032" y="4535424"/>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Insights and Intelligence</a:t>
            </a:r>
            <a:endParaRPr lang="en-US" sz="1250" dirty="0"/>
          </a:p>
        </p:txBody>
      </p:sp>
      <p:sp>
        <p:nvSpPr>
          <p:cNvPr id="28" name="Text 26"/>
          <p:cNvSpPr/>
          <p:nvPr/>
        </p:nvSpPr>
        <p:spPr>
          <a:xfrm>
            <a:off x="6425032" y="4818888"/>
            <a:ext cx="4806544" cy="420624"/>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Proactive detectors and direct answers drawn from Orbit's own knowledge graph.</a:t>
            </a:r>
            <a:endParaRPr lang="en-US" sz="1050" dirty="0"/>
          </a:p>
        </p:txBody>
      </p:sp>
      <p:sp>
        <p:nvSpPr>
          <p:cNvPr id="29" name="Text 27"/>
          <p:cNvSpPr/>
          <p:nvPr/>
        </p:nvSpPr>
        <p:spPr>
          <a:xfrm>
            <a:off x="777240" y="5641848"/>
            <a:ext cx="10637215" cy="292608"/>
          </a:xfrm>
          <a:prstGeom prst="rect">
            <a:avLst/>
          </a:prstGeom>
          <a:noFill/>
          <a:ln/>
        </p:spPr>
        <p:txBody>
          <a:bodyPr wrap="square" rtlCol="0" anchor="ctr"/>
          <a:lstStyle/>
          <a:p>
            <a:pPr indent="0" marL="0">
              <a:buNone/>
            </a:pPr>
            <a:r>
              <a:rPr lang="en-US" sz="1250" dirty="0">
                <a:solidFill>
                  <a:srgbClr val="0F8A5F"/>
                </a:solidFill>
                <a:latin typeface="Segoe UI Semibold" pitchFamily="34" charset="0"/>
                <a:ea typeface="Segoe UI Semibold" pitchFamily="34" charset="-122"/>
                <a:cs typeface="Segoe UI Semibold" pitchFamily="34" charset="-120"/>
              </a:rPr>
              <a:t>Every one of these reads from context Orbit already has, which is why the suggestions are usable rather than generic.</a:t>
            </a:r>
            <a:endParaRPr lang="en-US" sz="1250" dirty="0"/>
          </a:p>
        </p:txBody>
      </p:sp>
      <p:sp>
        <p:nvSpPr>
          <p:cNvPr id="30" name="Shape 28"/>
          <p:cNvSpPr/>
          <p:nvPr/>
        </p:nvSpPr>
        <p:spPr>
          <a:xfrm>
            <a:off x="777240" y="6327648"/>
            <a:ext cx="10637215" cy="10973"/>
          </a:xfrm>
          <a:prstGeom prst="rect">
            <a:avLst/>
          </a:prstGeom>
          <a:solidFill>
            <a:srgbClr val="DCE5E1"/>
          </a:solidFill>
          <a:ln/>
        </p:spPr>
      </p:sp>
      <p:sp>
        <p:nvSpPr>
          <p:cNvPr id="31" name="Shape 29"/>
          <p:cNvSpPr/>
          <p:nvPr/>
        </p:nvSpPr>
        <p:spPr>
          <a:xfrm>
            <a:off x="777240" y="6446520"/>
            <a:ext cx="164592" cy="164592"/>
          </a:xfrm>
          <a:prstGeom prst="ellipse">
            <a:avLst/>
          </a:prstGeom>
          <a:solidFill>
            <a:srgbClr val="FFFFFF"/>
          </a:solidFill>
          <a:ln w="20320">
            <a:solidFill>
              <a:srgbClr val="0F8A5F"/>
            </a:solidFill>
            <a:prstDash val="solid"/>
          </a:ln>
        </p:spPr>
      </p:sp>
      <p:sp>
        <p:nvSpPr>
          <p:cNvPr id="32" name="Shape 30"/>
          <p:cNvSpPr/>
          <p:nvPr/>
        </p:nvSpPr>
        <p:spPr>
          <a:xfrm>
            <a:off x="834847" y="6504127"/>
            <a:ext cx="49378" cy="49378"/>
          </a:xfrm>
          <a:prstGeom prst="ellipse">
            <a:avLst/>
          </a:prstGeom>
          <a:solidFill>
            <a:srgbClr val="0F8A5F"/>
          </a:solidFill>
          <a:ln/>
        </p:spPr>
      </p:sp>
      <p:sp>
        <p:nvSpPr>
          <p:cNvPr id="33" name="Shape 31"/>
          <p:cNvSpPr/>
          <p:nvPr/>
        </p:nvSpPr>
        <p:spPr>
          <a:xfrm>
            <a:off x="903729" y="6456642"/>
            <a:ext cx="27981" cy="27981"/>
          </a:xfrm>
          <a:prstGeom prst="ellipse">
            <a:avLst/>
          </a:prstGeom>
          <a:solidFill>
            <a:srgbClr val="0F8A5F"/>
          </a:solidFill>
          <a:ln w="15240">
            <a:solidFill>
              <a:srgbClr val="FFFFFF"/>
            </a:solidFill>
            <a:prstDash val="solid"/>
          </a:ln>
        </p:spPr>
      </p:sp>
      <p:sp>
        <p:nvSpPr>
          <p:cNvPr id="34" name="Text 32"/>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35" name="Text 33"/>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AI woven throughout</a:t>
            </a:r>
            <a:endParaRPr lang="en-US" sz="850" dirty="0"/>
          </a:p>
        </p:txBody>
      </p:sp>
      <p:sp>
        <p:nvSpPr>
          <p:cNvPr id="36" name="Text 34"/>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7 / 12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211"/>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3ADFA2"/>
                </a:solidFill>
                <a:latin typeface="Consolas" pitchFamily="34" charset="0"/>
                <a:ea typeface="Consolas" pitchFamily="34" charset="-122"/>
                <a:cs typeface="Consolas" pitchFamily="34" charset="-120"/>
              </a:rPr>
              <a:t>ARCHITECTURE</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FFFFFF"/>
                </a:solidFill>
                <a:latin typeface="Segoe UI Semibold" pitchFamily="34" charset="0"/>
                <a:ea typeface="Segoe UI Semibold" pitchFamily="34" charset="-122"/>
                <a:cs typeface="Segoe UI Semibold" pitchFamily="34" charset="-120"/>
              </a:rPr>
              <a:t>Engines, Agent and Orbit on the Web</a:t>
            </a:r>
            <a:endParaRPr lang="en-US" sz="2700" dirty="0"/>
          </a:p>
        </p:txBody>
      </p:sp>
      <p:sp>
        <p:nvSpPr>
          <p:cNvPr id="4" name="Text 2"/>
          <p:cNvSpPr/>
          <p:nvPr/>
        </p:nvSpPr>
        <p:spPr>
          <a:xfrm>
            <a:off x="777240" y="1298448"/>
            <a:ext cx="10637215" cy="329184"/>
          </a:xfrm>
          <a:prstGeom prst="rect">
            <a:avLst/>
          </a:prstGeom>
          <a:noFill/>
          <a:ln/>
        </p:spPr>
        <p:txBody>
          <a:bodyPr wrap="square" rtlCol="0" anchor="ctr"/>
          <a:lstStyle/>
          <a:p>
            <a:pPr indent="0" marL="0">
              <a:buNone/>
            </a:pPr>
            <a:r>
              <a:rPr lang="en-US" sz="1250" dirty="0">
                <a:solidFill>
                  <a:srgbClr val="9FB2AB"/>
                </a:solidFill>
                <a:latin typeface="Segoe UI" pitchFamily="34" charset="0"/>
                <a:ea typeface="Segoe UI" pitchFamily="34" charset="-122"/>
                <a:cs typeface="Segoe UI" pitchFamily="34" charset="-120"/>
              </a:rPr>
              <a:t>Orbit is not a single application. It is three cooperating layers, each owning what only it can do.</a:t>
            </a:r>
            <a:endParaRPr lang="en-US" sz="1250" dirty="0"/>
          </a:p>
        </p:txBody>
      </p:sp>
      <p:sp>
        <p:nvSpPr>
          <p:cNvPr id="5" name="Shape 3"/>
          <p:cNvSpPr/>
          <p:nvPr/>
        </p:nvSpPr>
        <p:spPr>
          <a:xfrm>
            <a:off x="777240" y="2512314"/>
            <a:ext cx="3265322" cy="2537460"/>
          </a:xfrm>
          <a:prstGeom prst="rect">
            <a:avLst/>
          </a:prstGeom>
          <a:solidFill>
            <a:srgbClr val="16211E"/>
          </a:solidFill>
          <a:ln w="9525">
            <a:solidFill>
              <a:srgbClr val="27362F"/>
            </a:solidFill>
            <a:prstDash val="solid"/>
          </a:ln>
        </p:spPr>
      </p:sp>
      <p:sp>
        <p:nvSpPr>
          <p:cNvPr id="6" name="Shape 4"/>
          <p:cNvSpPr/>
          <p:nvPr/>
        </p:nvSpPr>
        <p:spPr>
          <a:xfrm>
            <a:off x="777240" y="2512314"/>
            <a:ext cx="3265322" cy="45720"/>
          </a:xfrm>
          <a:prstGeom prst="rect">
            <a:avLst/>
          </a:prstGeom>
          <a:solidFill>
            <a:srgbClr val="3ADFA2"/>
          </a:solidFill>
          <a:ln/>
        </p:spPr>
      </p:sp>
      <p:sp>
        <p:nvSpPr>
          <p:cNvPr id="7" name="Text 5"/>
          <p:cNvSpPr/>
          <p:nvPr/>
        </p:nvSpPr>
        <p:spPr>
          <a:xfrm>
            <a:off x="1051560" y="2823210"/>
            <a:ext cx="2716682" cy="329184"/>
          </a:xfrm>
          <a:prstGeom prst="rect">
            <a:avLst/>
          </a:prstGeom>
          <a:noFill/>
          <a:ln/>
        </p:spPr>
        <p:txBody>
          <a:bodyPr wrap="square" rtlCol="0" anchor="ctr"/>
          <a:lstStyle/>
          <a:p>
            <a:pPr indent="0" marL="0">
              <a:buNone/>
            </a:pPr>
            <a:r>
              <a:rPr lang="en-US" sz="1600" dirty="0">
                <a:solidFill>
                  <a:srgbClr val="3ADFA2"/>
                </a:solidFill>
                <a:latin typeface="Segoe UI Semibold" pitchFamily="34" charset="0"/>
                <a:ea typeface="Segoe UI Semibold" pitchFamily="34" charset="-122"/>
                <a:cs typeface="Segoe UI Semibold" pitchFamily="34" charset="-120"/>
              </a:rPr>
              <a:t>ENGINES</a:t>
            </a:r>
            <a:endParaRPr lang="en-US" sz="1600" dirty="0"/>
          </a:p>
        </p:txBody>
      </p:sp>
      <p:sp>
        <p:nvSpPr>
          <p:cNvPr id="8" name="Text 6"/>
          <p:cNvSpPr/>
          <p:nvPr/>
        </p:nvSpPr>
        <p:spPr>
          <a:xfrm>
            <a:off x="1051560" y="3207258"/>
            <a:ext cx="2716682" cy="274320"/>
          </a:xfrm>
          <a:prstGeom prst="rect">
            <a:avLst/>
          </a:prstGeom>
          <a:noFill/>
          <a:ln/>
        </p:spPr>
        <p:txBody>
          <a:bodyPr wrap="square" rtlCol="0" anchor="ctr"/>
          <a:lstStyle/>
          <a:p>
            <a:pPr indent="0" marL="0">
              <a:buNone/>
            </a:pPr>
            <a:r>
              <a:rPr lang="en-US" sz="950" dirty="0">
                <a:solidFill>
                  <a:srgbClr val="9FB2AB"/>
                </a:solidFill>
                <a:latin typeface="Consolas" pitchFamily="34" charset="0"/>
                <a:ea typeface="Consolas" pitchFamily="34" charset="-122"/>
                <a:cs typeface="Consolas" pitchFamily="34" charset="-120"/>
              </a:rPr>
              <a:t>In-browser logic layer</a:t>
            </a:r>
            <a:endParaRPr lang="en-US" sz="950" dirty="0"/>
          </a:p>
        </p:txBody>
      </p:sp>
      <p:sp>
        <p:nvSpPr>
          <p:cNvPr id="9" name="Shape 7"/>
          <p:cNvSpPr/>
          <p:nvPr/>
        </p:nvSpPr>
        <p:spPr>
          <a:xfrm>
            <a:off x="1051560" y="3573018"/>
            <a:ext cx="502920" cy="18288"/>
          </a:xfrm>
          <a:prstGeom prst="rect">
            <a:avLst/>
          </a:prstGeom>
          <a:solidFill>
            <a:srgbClr val="31423B"/>
          </a:solidFill>
          <a:ln/>
        </p:spPr>
      </p:sp>
      <p:sp>
        <p:nvSpPr>
          <p:cNvPr id="10" name="Text 8"/>
          <p:cNvSpPr/>
          <p:nvPr/>
        </p:nvSpPr>
        <p:spPr>
          <a:xfrm>
            <a:off x="1051560" y="3755898"/>
            <a:ext cx="2716682" cy="982980"/>
          </a:xfrm>
          <a:prstGeom prst="rect">
            <a:avLst/>
          </a:prstGeom>
          <a:noFill/>
          <a:ln/>
        </p:spPr>
        <p:txBody>
          <a:bodyPr wrap="square" rtlCol="0" anchor="t"/>
          <a:lstStyle/>
          <a:p>
            <a:pPr indent="0" marL="0">
              <a:lnSpc>
                <a:spcPct val="125000"/>
              </a:lnSpc>
              <a:buNone/>
            </a:pPr>
            <a:r>
              <a:rPr lang="en-US" sz="1150" dirty="0">
                <a:solidFill>
                  <a:srgbClr val="FFFFFF"/>
                </a:solidFill>
                <a:latin typeface="Segoe UI" pitchFamily="34" charset="0"/>
                <a:ea typeface="Segoe UI" pitchFamily="34" charset="-122"/>
                <a:cs typeface="Segoe UI" pitchFamily="34" charset="-120"/>
              </a:rPr>
              <a:t>Four framework-free TypeScript engines - Event, Knowledge, Integration and AI - composed once at startup and shared across the whole application.</a:t>
            </a:r>
            <a:endParaRPr lang="en-US" sz="1150" dirty="0"/>
          </a:p>
        </p:txBody>
      </p:sp>
      <p:sp>
        <p:nvSpPr>
          <p:cNvPr id="11" name="Shape 9"/>
          <p:cNvSpPr/>
          <p:nvPr/>
        </p:nvSpPr>
        <p:spPr>
          <a:xfrm>
            <a:off x="4124858" y="3680460"/>
            <a:ext cx="256032" cy="201168"/>
          </a:xfrm>
          <a:prstGeom prst="rightArrow">
            <a:avLst/>
          </a:prstGeom>
          <a:solidFill>
            <a:srgbClr val="3ADFA2"/>
          </a:solidFill>
          <a:ln/>
        </p:spPr>
      </p:sp>
      <p:sp>
        <p:nvSpPr>
          <p:cNvPr id="12" name="Shape 10"/>
          <p:cNvSpPr/>
          <p:nvPr/>
        </p:nvSpPr>
        <p:spPr>
          <a:xfrm>
            <a:off x="4463186" y="2512314"/>
            <a:ext cx="3265322" cy="2537460"/>
          </a:xfrm>
          <a:prstGeom prst="rect">
            <a:avLst/>
          </a:prstGeom>
          <a:solidFill>
            <a:srgbClr val="16211E"/>
          </a:solidFill>
          <a:ln w="9525">
            <a:solidFill>
              <a:srgbClr val="27362F"/>
            </a:solidFill>
            <a:prstDash val="solid"/>
          </a:ln>
        </p:spPr>
      </p:sp>
      <p:sp>
        <p:nvSpPr>
          <p:cNvPr id="13" name="Shape 11"/>
          <p:cNvSpPr/>
          <p:nvPr/>
        </p:nvSpPr>
        <p:spPr>
          <a:xfrm>
            <a:off x="4463186" y="2512314"/>
            <a:ext cx="3265322" cy="45720"/>
          </a:xfrm>
          <a:prstGeom prst="rect">
            <a:avLst/>
          </a:prstGeom>
          <a:solidFill>
            <a:srgbClr val="3ADFA2"/>
          </a:solidFill>
          <a:ln/>
        </p:spPr>
      </p:sp>
      <p:sp>
        <p:nvSpPr>
          <p:cNvPr id="14" name="Text 12"/>
          <p:cNvSpPr/>
          <p:nvPr/>
        </p:nvSpPr>
        <p:spPr>
          <a:xfrm>
            <a:off x="4737506" y="2823210"/>
            <a:ext cx="2716682" cy="329184"/>
          </a:xfrm>
          <a:prstGeom prst="rect">
            <a:avLst/>
          </a:prstGeom>
          <a:noFill/>
          <a:ln/>
        </p:spPr>
        <p:txBody>
          <a:bodyPr wrap="square" rtlCol="0" anchor="ctr"/>
          <a:lstStyle/>
          <a:p>
            <a:pPr indent="0" marL="0">
              <a:buNone/>
            </a:pPr>
            <a:r>
              <a:rPr lang="en-US" sz="1600" dirty="0">
                <a:solidFill>
                  <a:srgbClr val="3ADFA2"/>
                </a:solidFill>
                <a:latin typeface="Segoe UI Semibold" pitchFamily="34" charset="0"/>
                <a:ea typeface="Segoe UI Semibold" pitchFamily="34" charset="-122"/>
                <a:cs typeface="Segoe UI Semibold" pitchFamily="34" charset="-120"/>
              </a:rPr>
              <a:t>AGENT</a:t>
            </a:r>
            <a:endParaRPr lang="en-US" sz="1600" dirty="0"/>
          </a:p>
        </p:txBody>
      </p:sp>
      <p:sp>
        <p:nvSpPr>
          <p:cNvPr id="15" name="Text 13"/>
          <p:cNvSpPr/>
          <p:nvPr/>
        </p:nvSpPr>
        <p:spPr>
          <a:xfrm>
            <a:off x="4737506" y="3207258"/>
            <a:ext cx="2716682" cy="274320"/>
          </a:xfrm>
          <a:prstGeom prst="rect">
            <a:avLst/>
          </a:prstGeom>
          <a:noFill/>
          <a:ln/>
        </p:spPr>
        <p:txBody>
          <a:bodyPr wrap="square" rtlCol="0" anchor="ctr"/>
          <a:lstStyle/>
          <a:p>
            <a:pPr indent="0" marL="0">
              <a:buNone/>
            </a:pPr>
            <a:r>
              <a:rPr lang="en-US" sz="950" dirty="0">
                <a:solidFill>
                  <a:srgbClr val="9FB2AB"/>
                </a:solidFill>
                <a:latin typeface="Consolas" pitchFamily="34" charset="0"/>
                <a:ea typeface="Consolas" pitchFamily="34" charset="-122"/>
                <a:cs typeface="Consolas" pitchFamily="34" charset="-120"/>
              </a:rPr>
              <a:t>Local companion process</a:t>
            </a:r>
            <a:endParaRPr lang="en-US" sz="950" dirty="0"/>
          </a:p>
        </p:txBody>
      </p:sp>
      <p:sp>
        <p:nvSpPr>
          <p:cNvPr id="16" name="Shape 14"/>
          <p:cNvSpPr/>
          <p:nvPr/>
        </p:nvSpPr>
        <p:spPr>
          <a:xfrm>
            <a:off x="4737506" y="3573018"/>
            <a:ext cx="502920" cy="18288"/>
          </a:xfrm>
          <a:prstGeom prst="rect">
            <a:avLst/>
          </a:prstGeom>
          <a:solidFill>
            <a:srgbClr val="31423B"/>
          </a:solidFill>
          <a:ln/>
        </p:spPr>
      </p:sp>
      <p:sp>
        <p:nvSpPr>
          <p:cNvPr id="17" name="Text 15"/>
          <p:cNvSpPr/>
          <p:nvPr/>
        </p:nvSpPr>
        <p:spPr>
          <a:xfrm>
            <a:off x="4737506" y="3755898"/>
            <a:ext cx="2716682" cy="982980"/>
          </a:xfrm>
          <a:prstGeom prst="rect">
            <a:avLst/>
          </a:prstGeom>
          <a:noFill/>
          <a:ln/>
        </p:spPr>
        <p:txBody>
          <a:bodyPr wrap="square" rtlCol="0" anchor="t"/>
          <a:lstStyle/>
          <a:p>
            <a:pPr indent="0" marL="0">
              <a:lnSpc>
                <a:spcPct val="125000"/>
              </a:lnSpc>
              <a:buNone/>
            </a:pPr>
            <a:r>
              <a:rPr lang="en-US" sz="1150" dirty="0">
                <a:solidFill>
                  <a:srgbClr val="FFFFFF"/>
                </a:solidFill>
                <a:latin typeface="Segoe UI" pitchFamily="34" charset="0"/>
                <a:ea typeface="Segoe UI" pitchFamily="34" charset="-122"/>
                <a:cs typeface="Segoe UI" pitchFamily="34" charset="-120"/>
              </a:rPr>
              <a:t>A native process on the developer's machine. It reaches what no browser can: git, Docker, Gmail, the filesystem and the AI providers.</a:t>
            </a:r>
            <a:endParaRPr lang="en-US" sz="1150" dirty="0"/>
          </a:p>
        </p:txBody>
      </p:sp>
      <p:sp>
        <p:nvSpPr>
          <p:cNvPr id="18" name="Shape 16"/>
          <p:cNvSpPr/>
          <p:nvPr/>
        </p:nvSpPr>
        <p:spPr>
          <a:xfrm>
            <a:off x="7810805" y="3680460"/>
            <a:ext cx="256032" cy="201168"/>
          </a:xfrm>
          <a:prstGeom prst="rightArrow">
            <a:avLst/>
          </a:prstGeom>
          <a:solidFill>
            <a:srgbClr val="3ADFA2"/>
          </a:solidFill>
          <a:ln/>
        </p:spPr>
      </p:sp>
      <p:sp>
        <p:nvSpPr>
          <p:cNvPr id="19" name="Shape 17"/>
          <p:cNvSpPr/>
          <p:nvPr/>
        </p:nvSpPr>
        <p:spPr>
          <a:xfrm>
            <a:off x="8149133" y="2512314"/>
            <a:ext cx="3265322" cy="2537460"/>
          </a:xfrm>
          <a:prstGeom prst="rect">
            <a:avLst/>
          </a:prstGeom>
          <a:solidFill>
            <a:srgbClr val="16211E"/>
          </a:solidFill>
          <a:ln w="9525">
            <a:solidFill>
              <a:srgbClr val="27362F"/>
            </a:solidFill>
            <a:prstDash val="solid"/>
          </a:ln>
        </p:spPr>
      </p:sp>
      <p:sp>
        <p:nvSpPr>
          <p:cNvPr id="20" name="Shape 18"/>
          <p:cNvSpPr/>
          <p:nvPr/>
        </p:nvSpPr>
        <p:spPr>
          <a:xfrm>
            <a:off x="8149133" y="2512314"/>
            <a:ext cx="3265322" cy="45720"/>
          </a:xfrm>
          <a:prstGeom prst="rect">
            <a:avLst/>
          </a:prstGeom>
          <a:solidFill>
            <a:srgbClr val="3ADFA2"/>
          </a:solidFill>
          <a:ln/>
        </p:spPr>
      </p:sp>
      <p:sp>
        <p:nvSpPr>
          <p:cNvPr id="21" name="Text 19"/>
          <p:cNvSpPr/>
          <p:nvPr/>
        </p:nvSpPr>
        <p:spPr>
          <a:xfrm>
            <a:off x="8423453" y="2823210"/>
            <a:ext cx="2716682" cy="329184"/>
          </a:xfrm>
          <a:prstGeom prst="rect">
            <a:avLst/>
          </a:prstGeom>
          <a:noFill/>
          <a:ln/>
        </p:spPr>
        <p:txBody>
          <a:bodyPr wrap="square" rtlCol="0" anchor="ctr"/>
          <a:lstStyle/>
          <a:p>
            <a:pPr indent="0" marL="0">
              <a:buNone/>
            </a:pPr>
            <a:r>
              <a:rPr lang="en-US" sz="1600" dirty="0">
                <a:solidFill>
                  <a:srgbClr val="3ADFA2"/>
                </a:solidFill>
                <a:latin typeface="Segoe UI Semibold" pitchFamily="34" charset="0"/>
                <a:ea typeface="Segoe UI Semibold" pitchFamily="34" charset="-122"/>
                <a:cs typeface="Segoe UI Semibold" pitchFamily="34" charset="-120"/>
              </a:rPr>
              <a:t>ORBIT ON THE WEB</a:t>
            </a:r>
            <a:endParaRPr lang="en-US" sz="1600" dirty="0"/>
          </a:p>
        </p:txBody>
      </p:sp>
      <p:sp>
        <p:nvSpPr>
          <p:cNvPr id="22" name="Text 20"/>
          <p:cNvSpPr/>
          <p:nvPr/>
        </p:nvSpPr>
        <p:spPr>
          <a:xfrm>
            <a:off x="8423453" y="3207258"/>
            <a:ext cx="2716682" cy="274320"/>
          </a:xfrm>
          <a:prstGeom prst="rect">
            <a:avLst/>
          </a:prstGeom>
          <a:noFill/>
          <a:ln/>
        </p:spPr>
        <p:txBody>
          <a:bodyPr wrap="square" rtlCol="0" anchor="ctr"/>
          <a:lstStyle/>
          <a:p>
            <a:pPr indent="0" marL="0">
              <a:buNone/>
            </a:pPr>
            <a:r>
              <a:rPr lang="en-US" sz="950" dirty="0">
                <a:solidFill>
                  <a:srgbClr val="9FB2AB"/>
                </a:solidFill>
                <a:latin typeface="Consolas" pitchFamily="34" charset="0"/>
                <a:ea typeface="Consolas" pitchFamily="34" charset="-122"/>
                <a:cs typeface="Consolas" pitchFamily="34" charset="-120"/>
              </a:rPr>
              <a:t>Hosted interface and backend</a:t>
            </a:r>
            <a:endParaRPr lang="en-US" sz="950" dirty="0"/>
          </a:p>
        </p:txBody>
      </p:sp>
      <p:sp>
        <p:nvSpPr>
          <p:cNvPr id="23" name="Shape 21"/>
          <p:cNvSpPr/>
          <p:nvPr/>
        </p:nvSpPr>
        <p:spPr>
          <a:xfrm>
            <a:off x="8423453" y="3573018"/>
            <a:ext cx="502920" cy="18288"/>
          </a:xfrm>
          <a:prstGeom prst="rect">
            <a:avLst/>
          </a:prstGeom>
          <a:solidFill>
            <a:srgbClr val="31423B"/>
          </a:solidFill>
          <a:ln/>
        </p:spPr>
      </p:sp>
      <p:sp>
        <p:nvSpPr>
          <p:cNvPr id="24" name="Text 22"/>
          <p:cNvSpPr/>
          <p:nvPr/>
        </p:nvSpPr>
        <p:spPr>
          <a:xfrm>
            <a:off x="8423453" y="3755898"/>
            <a:ext cx="2716682" cy="982980"/>
          </a:xfrm>
          <a:prstGeom prst="rect">
            <a:avLst/>
          </a:prstGeom>
          <a:noFill/>
          <a:ln/>
        </p:spPr>
        <p:txBody>
          <a:bodyPr wrap="square" rtlCol="0" anchor="t"/>
          <a:lstStyle/>
          <a:p>
            <a:pPr indent="0" marL="0">
              <a:lnSpc>
                <a:spcPct val="125000"/>
              </a:lnSpc>
              <a:buNone/>
            </a:pPr>
            <a:r>
              <a:rPr lang="en-US" sz="1150" dirty="0">
                <a:solidFill>
                  <a:srgbClr val="FFFFFF"/>
                </a:solidFill>
                <a:latin typeface="Segoe UI" pitchFamily="34" charset="0"/>
                <a:ea typeface="Segoe UI" pitchFamily="34" charset="-122"/>
                <a:cs typeface="Segoe UI" pitchFamily="34" charset="-120"/>
              </a:rPr>
              <a:t>The React interface, serverless functions for OAuth and scheduled jobs, and Supabase as system of record, authentication and realtime sync.</a:t>
            </a:r>
            <a:endParaRPr lang="en-US" sz="1150" dirty="0"/>
          </a:p>
        </p:txBody>
      </p:sp>
      <p:sp>
        <p:nvSpPr>
          <p:cNvPr id="25" name="Text 23"/>
          <p:cNvSpPr/>
          <p:nvPr/>
        </p:nvSpPr>
        <p:spPr>
          <a:xfrm>
            <a:off x="777240" y="5669280"/>
            <a:ext cx="10637215" cy="310896"/>
          </a:xfrm>
          <a:prstGeom prst="rect">
            <a:avLst/>
          </a:prstGeom>
          <a:noFill/>
          <a:ln/>
        </p:spPr>
        <p:txBody>
          <a:bodyPr wrap="square" rtlCol="0" anchor="ctr"/>
          <a:lstStyle/>
          <a:p>
            <a:pPr indent="0" marL="0">
              <a:buNone/>
            </a:pPr>
            <a:r>
              <a:rPr lang="en-US" sz="1150" i="1" dirty="0">
                <a:solidFill>
                  <a:srgbClr val="9FB2AB"/>
                </a:solidFill>
                <a:latin typeface="Segoe UI" pitchFamily="34" charset="0"/>
                <a:ea typeface="Segoe UI" pitchFamily="34" charset="-122"/>
                <a:cs typeface="Segoe UI" pitchFamily="34" charset="-120"/>
              </a:rPr>
              <a:t>Activity flows from the Agent and the Web into the Engines, which turn raw events into the shared knowledge the rest of Orbit reasons over.</a:t>
            </a:r>
            <a:endParaRPr lang="en-US" sz="1150" dirty="0"/>
          </a:p>
        </p:txBody>
      </p:sp>
      <p:sp>
        <p:nvSpPr>
          <p:cNvPr id="26" name="Shape 24"/>
          <p:cNvSpPr/>
          <p:nvPr/>
        </p:nvSpPr>
        <p:spPr>
          <a:xfrm>
            <a:off x="777240" y="6327648"/>
            <a:ext cx="10637215" cy="10973"/>
          </a:xfrm>
          <a:prstGeom prst="rect">
            <a:avLst/>
          </a:prstGeom>
          <a:solidFill>
            <a:srgbClr val="24332E"/>
          </a:solidFill>
          <a:ln/>
        </p:spPr>
      </p:sp>
      <p:sp>
        <p:nvSpPr>
          <p:cNvPr id="27" name="Shape 25"/>
          <p:cNvSpPr/>
          <p:nvPr/>
        </p:nvSpPr>
        <p:spPr>
          <a:xfrm>
            <a:off x="777240" y="6446520"/>
            <a:ext cx="164592" cy="164592"/>
          </a:xfrm>
          <a:prstGeom prst="ellipse">
            <a:avLst/>
          </a:prstGeom>
          <a:solidFill>
            <a:srgbClr val="0C1211"/>
          </a:solidFill>
          <a:ln w="20320">
            <a:solidFill>
              <a:srgbClr val="3ADFA2"/>
            </a:solidFill>
            <a:prstDash val="solid"/>
          </a:ln>
        </p:spPr>
      </p:sp>
      <p:sp>
        <p:nvSpPr>
          <p:cNvPr id="28" name="Shape 26"/>
          <p:cNvSpPr/>
          <p:nvPr/>
        </p:nvSpPr>
        <p:spPr>
          <a:xfrm>
            <a:off x="834847" y="6504127"/>
            <a:ext cx="49378" cy="49378"/>
          </a:xfrm>
          <a:prstGeom prst="ellipse">
            <a:avLst/>
          </a:prstGeom>
          <a:solidFill>
            <a:srgbClr val="3ADFA2"/>
          </a:solidFill>
          <a:ln/>
        </p:spPr>
      </p:sp>
      <p:sp>
        <p:nvSpPr>
          <p:cNvPr id="29" name="Shape 27"/>
          <p:cNvSpPr/>
          <p:nvPr/>
        </p:nvSpPr>
        <p:spPr>
          <a:xfrm>
            <a:off x="903729" y="6456642"/>
            <a:ext cx="27981" cy="27981"/>
          </a:xfrm>
          <a:prstGeom prst="ellipse">
            <a:avLst/>
          </a:prstGeom>
          <a:solidFill>
            <a:srgbClr val="3ADFA2"/>
          </a:solidFill>
          <a:ln w="15240">
            <a:solidFill>
              <a:srgbClr val="0C1211"/>
            </a:solidFill>
            <a:prstDash val="solid"/>
          </a:ln>
        </p:spPr>
      </p:sp>
      <p:sp>
        <p:nvSpPr>
          <p:cNvPr id="30" name="Text 28"/>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6C807A"/>
                </a:solidFill>
                <a:latin typeface="Consolas" pitchFamily="34" charset="0"/>
                <a:ea typeface="Consolas" pitchFamily="34" charset="-122"/>
                <a:cs typeface="Consolas" pitchFamily="34" charset="-120"/>
              </a:rPr>
              <a:t>ORBIT</a:t>
            </a:r>
            <a:endParaRPr lang="en-US" sz="850" dirty="0"/>
          </a:p>
        </p:txBody>
      </p:sp>
      <p:sp>
        <p:nvSpPr>
          <p:cNvPr id="31" name="Text 29"/>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6C807A"/>
                </a:solidFill>
                <a:latin typeface="Segoe UI" pitchFamily="34" charset="0"/>
                <a:ea typeface="Segoe UI" pitchFamily="34" charset="-122"/>
                <a:cs typeface="Segoe UI" pitchFamily="34" charset="-120"/>
              </a:rPr>
              <a:t>Architecture at a glance</a:t>
            </a:r>
            <a:endParaRPr lang="en-US" sz="850" dirty="0"/>
          </a:p>
        </p:txBody>
      </p:sp>
      <p:sp>
        <p:nvSpPr>
          <p:cNvPr id="32" name="Text 30"/>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6C807A"/>
                </a:solidFill>
                <a:latin typeface="Consolas" pitchFamily="34" charset="0"/>
                <a:ea typeface="Consolas" pitchFamily="34" charset="-122"/>
                <a:cs typeface="Consolas" pitchFamily="34" charset="-120"/>
              </a:rPr>
              <a:t>8 / 12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ARCHITECTURE - DEEP DIVE</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The four engines</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Pure TypeScript modules with no framework dependency. They hold Orbit's logic, and the runtime composes them once at startup.</a:t>
            </a:r>
            <a:endParaRPr lang="en-US" sz="1250" dirty="0"/>
          </a:p>
        </p:txBody>
      </p:sp>
      <p:sp>
        <p:nvSpPr>
          <p:cNvPr id="5" name="Shape 3"/>
          <p:cNvSpPr/>
          <p:nvPr/>
        </p:nvSpPr>
        <p:spPr>
          <a:xfrm>
            <a:off x="777240" y="2148840"/>
            <a:ext cx="5190592" cy="1307592"/>
          </a:xfrm>
          <a:prstGeom prst="rect">
            <a:avLst/>
          </a:prstGeom>
          <a:solidFill>
            <a:srgbClr val="F6F9F8"/>
          </a:solidFill>
          <a:ln w="9525">
            <a:solidFill>
              <a:srgbClr val="DCE5E1"/>
            </a:solidFill>
            <a:prstDash val="solid"/>
          </a:ln>
        </p:spPr>
      </p:sp>
      <p:sp>
        <p:nvSpPr>
          <p:cNvPr id="6" name="Shape 4"/>
          <p:cNvSpPr/>
          <p:nvPr/>
        </p:nvSpPr>
        <p:spPr>
          <a:xfrm>
            <a:off x="777240" y="2148840"/>
            <a:ext cx="41148" cy="1307592"/>
          </a:xfrm>
          <a:prstGeom prst="rect">
            <a:avLst/>
          </a:prstGeom>
          <a:solidFill>
            <a:srgbClr val="0F8A5F"/>
          </a:solidFill>
          <a:ln/>
        </p:spPr>
      </p:sp>
      <p:sp>
        <p:nvSpPr>
          <p:cNvPr id="7" name="Text 5"/>
          <p:cNvSpPr/>
          <p:nvPr/>
        </p:nvSpPr>
        <p:spPr>
          <a:xfrm>
            <a:off x="978408" y="2267712"/>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Event Engine</a:t>
            </a:r>
            <a:endParaRPr lang="en-US" sz="1250" dirty="0"/>
          </a:p>
        </p:txBody>
      </p:sp>
      <p:sp>
        <p:nvSpPr>
          <p:cNvPr id="8" name="Text 6"/>
          <p:cNvSpPr/>
          <p:nvPr/>
        </p:nvSpPr>
        <p:spPr>
          <a:xfrm>
            <a:off x="978408" y="2551176"/>
            <a:ext cx="4806544" cy="777240"/>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publish and subscribe backbone for immutable domain events. Every meaningful change - a task moved, a build finished, a ticket raised - becomes an event the rest of Orbit can react to, in order and after the fact.</a:t>
            </a:r>
            <a:endParaRPr lang="en-US" sz="1050" dirty="0"/>
          </a:p>
        </p:txBody>
      </p:sp>
      <p:sp>
        <p:nvSpPr>
          <p:cNvPr id="9" name="Shape 7"/>
          <p:cNvSpPr/>
          <p:nvPr/>
        </p:nvSpPr>
        <p:spPr>
          <a:xfrm>
            <a:off x="6223864" y="2148840"/>
            <a:ext cx="5190592" cy="1307592"/>
          </a:xfrm>
          <a:prstGeom prst="rect">
            <a:avLst/>
          </a:prstGeom>
          <a:solidFill>
            <a:srgbClr val="F6F9F8"/>
          </a:solidFill>
          <a:ln w="9525">
            <a:solidFill>
              <a:srgbClr val="DCE5E1"/>
            </a:solidFill>
            <a:prstDash val="solid"/>
          </a:ln>
        </p:spPr>
      </p:sp>
      <p:sp>
        <p:nvSpPr>
          <p:cNvPr id="10" name="Shape 8"/>
          <p:cNvSpPr/>
          <p:nvPr/>
        </p:nvSpPr>
        <p:spPr>
          <a:xfrm>
            <a:off x="6223864" y="2148840"/>
            <a:ext cx="41148" cy="1307592"/>
          </a:xfrm>
          <a:prstGeom prst="rect">
            <a:avLst/>
          </a:prstGeom>
          <a:solidFill>
            <a:srgbClr val="0F8A5F"/>
          </a:solidFill>
          <a:ln/>
        </p:spPr>
      </p:sp>
      <p:sp>
        <p:nvSpPr>
          <p:cNvPr id="11" name="Text 9"/>
          <p:cNvSpPr/>
          <p:nvPr/>
        </p:nvSpPr>
        <p:spPr>
          <a:xfrm>
            <a:off x="6425032" y="2267712"/>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Knowledge Engine</a:t>
            </a:r>
            <a:endParaRPr lang="en-US" sz="1250" dirty="0"/>
          </a:p>
        </p:txBody>
      </p:sp>
      <p:sp>
        <p:nvSpPr>
          <p:cNvPr id="12" name="Text 10"/>
          <p:cNvSpPr/>
          <p:nvPr/>
        </p:nvSpPr>
        <p:spPr>
          <a:xfrm>
            <a:off x="6425032" y="2551176"/>
            <a:ext cx="4806544" cy="777240"/>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Turns that event stream into an entity and relationship graph: which project a ticket belongs to, who touched it, what it blocks. This graph is what Intelligence answers and the proactive detectors read from.</a:t>
            </a:r>
            <a:endParaRPr lang="en-US" sz="1050" dirty="0"/>
          </a:p>
        </p:txBody>
      </p:sp>
      <p:sp>
        <p:nvSpPr>
          <p:cNvPr id="13" name="Shape 11"/>
          <p:cNvSpPr/>
          <p:nvPr/>
        </p:nvSpPr>
        <p:spPr>
          <a:xfrm>
            <a:off x="777240" y="3675888"/>
            <a:ext cx="5190592" cy="1307592"/>
          </a:xfrm>
          <a:prstGeom prst="rect">
            <a:avLst/>
          </a:prstGeom>
          <a:solidFill>
            <a:srgbClr val="F6F9F8"/>
          </a:solidFill>
          <a:ln w="9525">
            <a:solidFill>
              <a:srgbClr val="DCE5E1"/>
            </a:solidFill>
            <a:prstDash val="solid"/>
          </a:ln>
        </p:spPr>
      </p:sp>
      <p:sp>
        <p:nvSpPr>
          <p:cNvPr id="14" name="Shape 12"/>
          <p:cNvSpPr/>
          <p:nvPr/>
        </p:nvSpPr>
        <p:spPr>
          <a:xfrm>
            <a:off x="777240" y="3675888"/>
            <a:ext cx="41148" cy="1307592"/>
          </a:xfrm>
          <a:prstGeom prst="rect">
            <a:avLst/>
          </a:prstGeom>
          <a:solidFill>
            <a:srgbClr val="0F8A5F"/>
          </a:solidFill>
          <a:ln/>
        </p:spPr>
      </p:sp>
      <p:sp>
        <p:nvSpPr>
          <p:cNvPr id="15" name="Text 13"/>
          <p:cNvSpPr/>
          <p:nvPr/>
        </p:nvSpPr>
        <p:spPr>
          <a:xfrm>
            <a:off x="978408" y="3794760"/>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Integration Engine</a:t>
            </a:r>
            <a:endParaRPr lang="en-US" sz="1250" dirty="0"/>
          </a:p>
        </p:txBody>
      </p:sp>
      <p:sp>
        <p:nvSpPr>
          <p:cNvPr id="16" name="Text 14"/>
          <p:cNvSpPr/>
          <p:nvPr/>
        </p:nvSpPr>
        <p:spPr>
          <a:xfrm>
            <a:off x="978408" y="4078224"/>
            <a:ext cx="4806544" cy="777240"/>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single adapter registry for GitHub, GitLab, Azure DevOps, Zoho, Sentry and Microsoft Teams. Each provider declares typed capabilities, so adding a new one never means touching call sites.</a:t>
            </a:r>
            <a:endParaRPr lang="en-US" sz="1050" dirty="0"/>
          </a:p>
        </p:txBody>
      </p:sp>
      <p:sp>
        <p:nvSpPr>
          <p:cNvPr id="17" name="Shape 15"/>
          <p:cNvSpPr/>
          <p:nvPr/>
        </p:nvSpPr>
        <p:spPr>
          <a:xfrm>
            <a:off x="6223864" y="3675888"/>
            <a:ext cx="5190592" cy="1307592"/>
          </a:xfrm>
          <a:prstGeom prst="rect">
            <a:avLst/>
          </a:prstGeom>
          <a:solidFill>
            <a:srgbClr val="F6F9F8"/>
          </a:solidFill>
          <a:ln w="9525">
            <a:solidFill>
              <a:srgbClr val="DCE5E1"/>
            </a:solidFill>
            <a:prstDash val="solid"/>
          </a:ln>
        </p:spPr>
      </p:sp>
      <p:sp>
        <p:nvSpPr>
          <p:cNvPr id="18" name="Shape 16"/>
          <p:cNvSpPr/>
          <p:nvPr/>
        </p:nvSpPr>
        <p:spPr>
          <a:xfrm>
            <a:off x="6223864" y="3675888"/>
            <a:ext cx="41148" cy="1307592"/>
          </a:xfrm>
          <a:prstGeom prst="rect">
            <a:avLst/>
          </a:prstGeom>
          <a:solidFill>
            <a:srgbClr val="0F8A5F"/>
          </a:solidFill>
          <a:ln/>
        </p:spPr>
      </p:sp>
      <p:sp>
        <p:nvSpPr>
          <p:cNvPr id="19" name="Text 17"/>
          <p:cNvSpPr/>
          <p:nvPr/>
        </p:nvSpPr>
        <p:spPr>
          <a:xfrm>
            <a:off x="6425032" y="3794760"/>
            <a:ext cx="4806544" cy="256032"/>
          </a:xfrm>
          <a:prstGeom prst="rect">
            <a:avLst/>
          </a:prstGeom>
          <a:noFill/>
          <a:ln/>
        </p:spPr>
        <p:txBody>
          <a:bodyPr wrap="square" rtlCol="0" anchor="ctr"/>
          <a:lstStyle/>
          <a:p>
            <a:pPr indent="0" marL="0">
              <a:buNone/>
            </a:pPr>
            <a:r>
              <a:rPr lang="en-US" sz="1250" dirty="0">
                <a:solidFill>
                  <a:srgbClr val="101917"/>
                </a:solidFill>
                <a:latin typeface="Segoe UI Semibold" pitchFamily="34" charset="0"/>
                <a:ea typeface="Segoe UI Semibold" pitchFamily="34" charset="-122"/>
                <a:cs typeface="Segoe UI Semibold" pitchFamily="34" charset="-120"/>
              </a:rPr>
              <a:t>AI Engine</a:t>
            </a:r>
            <a:endParaRPr lang="en-US" sz="1250" dirty="0"/>
          </a:p>
        </p:txBody>
      </p:sp>
      <p:sp>
        <p:nvSpPr>
          <p:cNvPr id="20" name="Text 18"/>
          <p:cNvSpPr/>
          <p:nvPr/>
        </p:nvSpPr>
        <p:spPr>
          <a:xfrm>
            <a:off x="6425032" y="4078224"/>
            <a:ext cx="4806544" cy="777240"/>
          </a:xfrm>
          <a:prstGeom prst="rect">
            <a:avLst/>
          </a:prstGeom>
          <a:noFill/>
          <a:ln/>
        </p:spPr>
        <p:txBody>
          <a:bodyPr wrap="square" rtlCol="0" anchor="t"/>
          <a:lstStyle/>
          <a:p>
            <a:pPr indent="0" marL="0">
              <a:lnSpc>
                <a:spcPct val="118000"/>
              </a:lnSpc>
              <a:buNone/>
            </a:pPr>
            <a:r>
              <a:rPr lang="en-US" sz="1050" dirty="0">
                <a:solidFill>
                  <a:srgbClr val="55665F"/>
                </a:solidFill>
                <a:latin typeface="Segoe UI" pitchFamily="34" charset="0"/>
                <a:ea typeface="Segoe UI" pitchFamily="34" charset="-122"/>
                <a:cs typeface="Segoe UI" pitchFamily="34" charset="-120"/>
              </a:rPr>
              <a:t>A provider-agnostic router that falls back automatically across Anthropic, Gemini, OpenAI and Grok, plus a locally hosted model. Callers ask for a completion and never handle provider differences.</a:t>
            </a:r>
            <a:endParaRPr lang="en-US" sz="1050" dirty="0"/>
          </a:p>
        </p:txBody>
      </p:sp>
      <p:sp>
        <p:nvSpPr>
          <p:cNvPr id="21" name="Shape 19"/>
          <p:cNvSpPr/>
          <p:nvPr/>
        </p:nvSpPr>
        <p:spPr>
          <a:xfrm>
            <a:off x="777240" y="5221224"/>
            <a:ext cx="10637215" cy="438912"/>
          </a:xfrm>
          <a:prstGeom prst="rect">
            <a:avLst/>
          </a:prstGeom>
          <a:solidFill>
            <a:srgbClr val="F6F9F8"/>
          </a:solidFill>
          <a:ln w="9525">
            <a:solidFill>
              <a:srgbClr val="DCE5E1"/>
            </a:solidFill>
            <a:prstDash val="solid"/>
          </a:ln>
        </p:spPr>
      </p:sp>
      <p:sp>
        <p:nvSpPr>
          <p:cNvPr id="22" name="Shape 20"/>
          <p:cNvSpPr/>
          <p:nvPr/>
        </p:nvSpPr>
        <p:spPr>
          <a:xfrm>
            <a:off x="777240" y="5221224"/>
            <a:ext cx="41148" cy="438912"/>
          </a:xfrm>
          <a:prstGeom prst="rect">
            <a:avLst/>
          </a:prstGeom>
          <a:solidFill>
            <a:srgbClr val="0F8A5F"/>
          </a:solidFill>
          <a:ln/>
        </p:spPr>
      </p:sp>
      <p:sp>
        <p:nvSpPr>
          <p:cNvPr id="23" name="Text 21"/>
          <p:cNvSpPr/>
          <p:nvPr/>
        </p:nvSpPr>
        <p:spPr>
          <a:xfrm>
            <a:off x="978408" y="5221224"/>
            <a:ext cx="10234879" cy="438912"/>
          </a:xfrm>
          <a:prstGeom prst="rect">
            <a:avLst/>
          </a:prstGeom>
          <a:noFill/>
          <a:ln/>
        </p:spPr>
        <p:txBody>
          <a:bodyPr wrap="square" rtlCol="0" anchor="ctr"/>
          <a:lstStyle/>
          <a:p>
            <a:pPr indent="0" marL="0">
              <a:buNone/>
            </a:pPr>
            <a:r>
              <a:rPr lang="en-US" sz="1000" i="1" dirty="0">
                <a:solidFill>
                  <a:srgbClr val="55665F"/>
                </a:solidFill>
                <a:latin typeface="Segoe UI" pitchFamily="34" charset="0"/>
                <a:ea typeface="Segoe UI" pitchFamily="34" charset="-122"/>
                <a:cs typeface="Segoe UI" pitchFamily="34" charset="-120"/>
              </a:rPr>
              <a:t>Event and Knowledge run live in every session. Calls needing real credentials - Integration and AI - are made server-side or by the Agent, never from the browser.</a:t>
            </a:r>
            <a:endParaRPr lang="en-US" sz="1000" dirty="0"/>
          </a:p>
        </p:txBody>
      </p:sp>
      <p:sp>
        <p:nvSpPr>
          <p:cNvPr id="24" name="Shape 22"/>
          <p:cNvSpPr/>
          <p:nvPr/>
        </p:nvSpPr>
        <p:spPr>
          <a:xfrm>
            <a:off x="777240" y="6327648"/>
            <a:ext cx="10637215" cy="10973"/>
          </a:xfrm>
          <a:prstGeom prst="rect">
            <a:avLst/>
          </a:prstGeom>
          <a:solidFill>
            <a:srgbClr val="DCE5E1"/>
          </a:solidFill>
          <a:ln/>
        </p:spPr>
      </p:sp>
      <p:sp>
        <p:nvSpPr>
          <p:cNvPr id="25" name="Shape 23"/>
          <p:cNvSpPr/>
          <p:nvPr/>
        </p:nvSpPr>
        <p:spPr>
          <a:xfrm>
            <a:off x="777240" y="6446520"/>
            <a:ext cx="164592" cy="164592"/>
          </a:xfrm>
          <a:prstGeom prst="ellipse">
            <a:avLst/>
          </a:prstGeom>
          <a:solidFill>
            <a:srgbClr val="FFFFFF"/>
          </a:solidFill>
          <a:ln w="20320">
            <a:solidFill>
              <a:srgbClr val="0F8A5F"/>
            </a:solidFill>
            <a:prstDash val="solid"/>
          </a:ln>
        </p:spPr>
      </p:sp>
      <p:sp>
        <p:nvSpPr>
          <p:cNvPr id="26" name="Shape 24"/>
          <p:cNvSpPr/>
          <p:nvPr/>
        </p:nvSpPr>
        <p:spPr>
          <a:xfrm>
            <a:off x="834847" y="6504127"/>
            <a:ext cx="49378" cy="49378"/>
          </a:xfrm>
          <a:prstGeom prst="ellipse">
            <a:avLst/>
          </a:prstGeom>
          <a:solidFill>
            <a:srgbClr val="0F8A5F"/>
          </a:solidFill>
          <a:ln/>
        </p:spPr>
      </p:sp>
      <p:sp>
        <p:nvSpPr>
          <p:cNvPr id="27" name="Shape 25"/>
          <p:cNvSpPr/>
          <p:nvPr/>
        </p:nvSpPr>
        <p:spPr>
          <a:xfrm>
            <a:off x="903729" y="6456642"/>
            <a:ext cx="27981" cy="27981"/>
          </a:xfrm>
          <a:prstGeom prst="ellipse">
            <a:avLst/>
          </a:prstGeom>
          <a:solidFill>
            <a:srgbClr val="0F8A5F"/>
          </a:solidFill>
          <a:ln w="15240">
            <a:solidFill>
              <a:srgbClr val="FFFFFF"/>
            </a:solidFill>
            <a:prstDash val="solid"/>
          </a:ln>
        </p:spPr>
      </p:sp>
      <p:sp>
        <p:nvSpPr>
          <p:cNvPr id="28" name="Text 26"/>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9" name="Text 27"/>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The four engines</a:t>
            </a:r>
            <a:endParaRPr lang="en-US" sz="850" dirty="0"/>
          </a:p>
        </p:txBody>
      </p:sp>
      <p:sp>
        <p:nvSpPr>
          <p:cNvPr id="30" name="Text 28"/>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9 / 12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ARCHITECTURE - DEEP DIVE</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The Agent and Orbit on the Web</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The split is a security boundary as much as an architectural one: secrets and machine access stay local, shared state stays hosted.</a:t>
            </a:r>
            <a:endParaRPr lang="en-US" sz="1250" dirty="0"/>
          </a:p>
        </p:txBody>
      </p:sp>
      <p:sp>
        <p:nvSpPr>
          <p:cNvPr id="5" name="Shape 3"/>
          <p:cNvSpPr/>
          <p:nvPr/>
        </p:nvSpPr>
        <p:spPr>
          <a:xfrm>
            <a:off x="777240" y="2537460"/>
            <a:ext cx="5172304" cy="3127248"/>
          </a:xfrm>
          <a:prstGeom prst="rect">
            <a:avLst/>
          </a:prstGeom>
          <a:solidFill>
            <a:srgbClr val="F6F9F8"/>
          </a:solidFill>
          <a:ln w="9525">
            <a:solidFill>
              <a:srgbClr val="DCE5E1"/>
            </a:solidFill>
            <a:prstDash val="solid"/>
          </a:ln>
        </p:spPr>
      </p:sp>
      <p:sp>
        <p:nvSpPr>
          <p:cNvPr id="6" name="Shape 4"/>
          <p:cNvSpPr/>
          <p:nvPr/>
        </p:nvSpPr>
        <p:spPr>
          <a:xfrm>
            <a:off x="777240" y="2537460"/>
            <a:ext cx="5172304" cy="45720"/>
          </a:xfrm>
          <a:prstGeom prst="rect">
            <a:avLst/>
          </a:prstGeom>
          <a:solidFill>
            <a:srgbClr val="0F8A5F"/>
          </a:solidFill>
          <a:ln/>
        </p:spPr>
      </p:sp>
      <p:sp>
        <p:nvSpPr>
          <p:cNvPr id="7" name="Text 5"/>
          <p:cNvSpPr/>
          <p:nvPr/>
        </p:nvSpPr>
        <p:spPr>
          <a:xfrm>
            <a:off x="1051560" y="2811780"/>
            <a:ext cx="4623664" cy="329184"/>
          </a:xfrm>
          <a:prstGeom prst="rect">
            <a:avLst/>
          </a:prstGeom>
          <a:noFill/>
          <a:ln/>
        </p:spPr>
        <p:txBody>
          <a:bodyPr wrap="square" rtlCol="0" anchor="ctr"/>
          <a:lstStyle/>
          <a:p>
            <a:pPr indent="0" marL="0">
              <a:buNone/>
            </a:pPr>
            <a:r>
              <a:rPr lang="en-US" sz="1700" dirty="0">
                <a:solidFill>
                  <a:srgbClr val="101917"/>
                </a:solidFill>
                <a:latin typeface="Segoe UI Semibold" pitchFamily="34" charset="0"/>
                <a:ea typeface="Segoe UI Semibold" pitchFamily="34" charset="-122"/>
                <a:cs typeface="Segoe UI Semibold" pitchFamily="34" charset="-120"/>
              </a:rPr>
              <a:t>The Agent</a:t>
            </a:r>
            <a:endParaRPr lang="en-US" sz="1700" dirty="0"/>
          </a:p>
        </p:txBody>
      </p:sp>
      <p:sp>
        <p:nvSpPr>
          <p:cNvPr id="8" name="Text 6"/>
          <p:cNvSpPr/>
          <p:nvPr/>
        </p:nvSpPr>
        <p:spPr>
          <a:xfrm>
            <a:off x="1051560" y="3177540"/>
            <a:ext cx="4623664" cy="256032"/>
          </a:xfrm>
          <a:prstGeom prst="rect">
            <a:avLst/>
          </a:prstGeom>
          <a:noFill/>
          <a:ln/>
        </p:spPr>
        <p:txBody>
          <a:bodyPr wrap="square" rtlCol="0" anchor="ctr"/>
          <a:lstStyle/>
          <a:p>
            <a:pPr indent="0" marL="0">
              <a:buNone/>
            </a:pPr>
            <a:r>
              <a:rPr lang="en-US" sz="950" dirty="0">
                <a:solidFill>
                  <a:srgbClr val="0F8A5F"/>
                </a:solidFill>
                <a:latin typeface="Consolas" pitchFamily="34" charset="0"/>
                <a:ea typeface="Consolas" pitchFamily="34" charset="-122"/>
                <a:cs typeface="Consolas" pitchFamily="34" charset="-120"/>
              </a:rPr>
              <a:t>RUNS ON THE DEVELOPER'S MACHINE</a:t>
            </a:r>
            <a:endParaRPr lang="en-US" sz="950" dirty="0"/>
          </a:p>
        </p:txBody>
      </p:sp>
      <p:sp>
        <p:nvSpPr>
          <p:cNvPr id="9" name="Text 7"/>
          <p:cNvSpPr/>
          <p:nvPr/>
        </p:nvSpPr>
        <p:spPr>
          <a:xfrm>
            <a:off x="1051560" y="3525012"/>
            <a:ext cx="4623664" cy="1417320"/>
          </a:xfrm>
          <a:prstGeom prst="rect">
            <a:avLst/>
          </a:prstGeom>
          <a:noFill/>
          <a:ln/>
        </p:spPr>
        <p:txBody>
          <a:bodyPr wrap="square" rtlCol="0" anchor="t"/>
          <a:lstStyle/>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Reads local git branches, commits and diffs</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Manages Docker containers and images</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Sends and reads Gmail</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Tracks real focus time from the active editor</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Holds the API keys and calls the AI providers</a:t>
            </a:r>
            <a:endParaRPr lang="en-US" sz="1100" dirty="0"/>
          </a:p>
        </p:txBody>
      </p:sp>
      <p:sp>
        <p:nvSpPr>
          <p:cNvPr id="10" name="Shape 8"/>
          <p:cNvSpPr/>
          <p:nvPr/>
        </p:nvSpPr>
        <p:spPr>
          <a:xfrm>
            <a:off x="1051560" y="4796028"/>
            <a:ext cx="502920" cy="18288"/>
          </a:xfrm>
          <a:prstGeom prst="rect">
            <a:avLst/>
          </a:prstGeom>
          <a:solidFill>
            <a:srgbClr val="DCE5E1"/>
          </a:solidFill>
          <a:ln/>
        </p:spPr>
      </p:sp>
      <p:sp>
        <p:nvSpPr>
          <p:cNvPr id="11" name="Text 9"/>
          <p:cNvSpPr/>
          <p:nvPr/>
        </p:nvSpPr>
        <p:spPr>
          <a:xfrm>
            <a:off x="1051560" y="4933188"/>
            <a:ext cx="4623664" cy="566928"/>
          </a:xfrm>
          <a:prstGeom prst="rect">
            <a:avLst/>
          </a:prstGeom>
          <a:noFill/>
          <a:ln/>
        </p:spPr>
        <p:txBody>
          <a:bodyPr wrap="square" rtlCol="0" anchor="t"/>
          <a:lstStyle/>
          <a:p>
            <a:pPr indent="0" marL="0">
              <a:lnSpc>
                <a:spcPct val="115000"/>
              </a:lnSpc>
              <a:buNone/>
            </a:pPr>
            <a:r>
              <a:rPr lang="en-US" sz="1000" i="1" dirty="0">
                <a:solidFill>
                  <a:srgbClr val="55665F"/>
                </a:solidFill>
                <a:latin typeface="Segoe UI" pitchFamily="34" charset="0"/>
                <a:ea typeface="Segoe UI" pitchFamily="34" charset="-122"/>
                <a:cs typeface="Segoe UI" pitchFamily="34" charset="-120"/>
              </a:rPr>
              <a:t>The browser talks to it over a local HTTP API, so provider secrets never reach client-side code.</a:t>
            </a:r>
            <a:endParaRPr lang="en-US" sz="1000" dirty="0"/>
          </a:p>
        </p:txBody>
      </p:sp>
      <p:sp>
        <p:nvSpPr>
          <p:cNvPr id="12" name="Shape 10"/>
          <p:cNvSpPr/>
          <p:nvPr/>
        </p:nvSpPr>
        <p:spPr>
          <a:xfrm>
            <a:off x="6242152" y="2537460"/>
            <a:ext cx="5172304" cy="3127248"/>
          </a:xfrm>
          <a:prstGeom prst="rect">
            <a:avLst/>
          </a:prstGeom>
          <a:solidFill>
            <a:srgbClr val="F6F9F8"/>
          </a:solidFill>
          <a:ln w="9525">
            <a:solidFill>
              <a:srgbClr val="DCE5E1"/>
            </a:solidFill>
            <a:prstDash val="solid"/>
          </a:ln>
        </p:spPr>
      </p:sp>
      <p:sp>
        <p:nvSpPr>
          <p:cNvPr id="13" name="Shape 11"/>
          <p:cNvSpPr/>
          <p:nvPr/>
        </p:nvSpPr>
        <p:spPr>
          <a:xfrm>
            <a:off x="6242152" y="2537460"/>
            <a:ext cx="5172304" cy="45720"/>
          </a:xfrm>
          <a:prstGeom prst="rect">
            <a:avLst/>
          </a:prstGeom>
          <a:solidFill>
            <a:srgbClr val="0F8A5F"/>
          </a:solidFill>
          <a:ln/>
        </p:spPr>
      </p:sp>
      <p:sp>
        <p:nvSpPr>
          <p:cNvPr id="14" name="Text 12"/>
          <p:cNvSpPr/>
          <p:nvPr/>
        </p:nvSpPr>
        <p:spPr>
          <a:xfrm>
            <a:off x="6516472" y="2811780"/>
            <a:ext cx="4623664" cy="329184"/>
          </a:xfrm>
          <a:prstGeom prst="rect">
            <a:avLst/>
          </a:prstGeom>
          <a:noFill/>
          <a:ln/>
        </p:spPr>
        <p:txBody>
          <a:bodyPr wrap="square" rtlCol="0" anchor="ctr"/>
          <a:lstStyle/>
          <a:p>
            <a:pPr indent="0" marL="0">
              <a:buNone/>
            </a:pPr>
            <a:r>
              <a:rPr lang="en-US" sz="1700" dirty="0">
                <a:solidFill>
                  <a:srgbClr val="101917"/>
                </a:solidFill>
                <a:latin typeface="Segoe UI Semibold" pitchFamily="34" charset="0"/>
                <a:ea typeface="Segoe UI Semibold" pitchFamily="34" charset="-122"/>
                <a:cs typeface="Segoe UI Semibold" pitchFamily="34" charset="-120"/>
              </a:rPr>
              <a:t>Orbit on the Web</a:t>
            </a:r>
            <a:endParaRPr lang="en-US" sz="1700" dirty="0"/>
          </a:p>
        </p:txBody>
      </p:sp>
      <p:sp>
        <p:nvSpPr>
          <p:cNvPr id="15" name="Text 13"/>
          <p:cNvSpPr/>
          <p:nvPr/>
        </p:nvSpPr>
        <p:spPr>
          <a:xfrm>
            <a:off x="6516472" y="3177540"/>
            <a:ext cx="4623664" cy="256032"/>
          </a:xfrm>
          <a:prstGeom prst="rect">
            <a:avLst/>
          </a:prstGeom>
          <a:noFill/>
          <a:ln/>
        </p:spPr>
        <p:txBody>
          <a:bodyPr wrap="square" rtlCol="0" anchor="ctr"/>
          <a:lstStyle/>
          <a:p>
            <a:pPr indent="0" marL="0">
              <a:buNone/>
            </a:pPr>
            <a:r>
              <a:rPr lang="en-US" sz="950" dirty="0">
                <a:solidFill>
                  <a:srgbClr val="0F8A5F"/>
                </a:solidFill>
                <a:latin typeface="Consolas" pitchFamily="34" charset="0"/>
                <a:ea typeface="Consolas" pitchFamily="34" charset="-122"/>
                <a:cs typeface="Consolas" pitchFamily="34" charset="-120"/>
              </a:rPr>
              <a:t>HOSTED INTERFACE AND BACKEND</a:t>
            </a:r>
            <a:endParaRPr lang="en-US" sz="950" dirty="0"/>
          </a:p>
        </p:txBody>
      </p:sp>
      <p:sp>
        <p:nvSpPr>
          <p:cNvPr id="16" name="Text 14"/>
          <p:cNvSpPr/>
          <p:nvPr/>
        </p:nvSpPr>
        <p:spPr>
          <a:xfrm>
            <a:off x="6516472" y="3525012"/>
            <a:ext cx="4623664" cy="1417320"/>
          </a:xfrm>
          <a:prstGeom prst="rect">
            <a:avLst/>
          </a:prstGeom>
          <a:noFill/>
          <a:ln/>
        </p:spPr>
        <p:txBody>
          <a:bodyPr wrap="square" rtlCol="0" anchor="t"/>
          <a:lstStyle/>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React interface - the control room itself</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Serverless functions for secure OAuth exchanges</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Scheduled jobs: daily brief, weekly digest, anomaly scan</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Supabase as system of record and authentication</a:t>
            </a:r>
            <a:endParaRPr lang="en-US" sz="1100" dirty="0"/>
          </a:p>
          <a:p>
            <a:pPr marL="177800" indent="-177800">
              <a:lnSpc>
                <a:spcPct val="140000"/>
              </a:lnSpc>
              <a:buSzPct val="100000"/>
              <a:buChar char="•"/>
            </a:pPr>
            <a:r>
              <a:rPr lang="en-US" sz="1100" dirty="0">
                <a:solidFill>
                  <a:srgbClr val="101917"/>
                </a:solidFill>
                <a:latin typeface="Segoe UI" pitchFamily="34" charset="0"/>
                <a:ea typeface="Segoe UI" pitchFamily="34" charset="-122"/>
                <a:cs typeface="Segoe UI" pitchFamily="34" charset="-120"/>
              </a:rPr>
              <a:t>Realtime sync across every signed-in device</a:t>
            </a:r>
            <a:endParaRPr lang="en-US" sz="1100" dirty="0"/>
          </a:p>
        </p:txBody>
      </p:sp>
      <p:sp>
        <p:nvSpPr>
          <p:cNvPr id="17" name="Shape 15"/>
          <p:cNvSpPr/>
          <p:nvPr/>
        </p:nvSpPr>
        <p:spPr>
          <a:xfrm>
            <a:off x="6516472" y="4796028"/>
            <a:ext cx="502920" cy="18288"/>
          </a:xfrm>
          <a:prstGeom prst="rect">
            <a:avLst/>
          </a:prstGeom>
          <a:solidFill>
            <a:srgbClr val="DCE5E1"/>
          </a:solidFill>
          <a:ln/>
        </p:spPr>
      </p:sp>
      <p:sp>
        <p:nvSpPr>
          <p:cNvPr id="18" name="Text 16"/>
          <p:cNvSpPr/>
          <p:nvPr/>
        </p:nvSpPr>
        <p:spPr>
          <a:xfrm>
            <a:off x="6516472" y="4933188"/>
            <a:ext cx="4623664" cy="566928"/>
          </a:xfrm>
          <a:prstGeom prst="rect">
            <a:avLst/>
          </a:prstGeom>
          <a:noFill/>
          <a:ln/>
        </p:spPr>
        <p:txBody>
          <a:bodyPr wrap="square" rtlCol="0" anchor="t"/>
          <a:lstStyle/>
          <a:p>
            <a:pPr indent="0" marL="0">
              <a:lnSpc>
                <a:spcPct val="115000"/>
              </a:lnSpc>
              <a:buNone/>
            </a:pPr>
            <a:r>
              <a:rPr lang="en-US" sz="1000" i="1" dirty="0">
                <a:solidFill>
                  <a:srgbClr val="55665F"/>
                </a:solidFill>
                <a:latin typeface="Segoe UI" pitchFamily="34" charset="0"/>
                <a:ea typeface="Segoe UI" pitchFamily="34" charset="-122"/>
                <a:cs typeface="Segoe UI" pitchFamily="34" charset="-120"/>
              </a:rPr>
              <a:t>This is what keeps the engines live and consistent wherever the workspace is opened.</a:t>
            </a:r>
            <a:endParaRPr lang="en-US" sz="1000" dirty="0"/>
          </a:p>
        </p:txBody>
      </p:sp>
      <p:sp>
        <p:nvSpPr>
          <p:cNvPr id="19" name="Shape 17"/>
          <p:cNvSpPr/>
          <p:nvPr/>
        </p:nvSpPr>
        <p:spPr>
          <a:xfrm>
            <a:off x="777240" y="6327648"/>
            <a:ext cx="10637215" cy="10973"/>
          </a:xfrm>
          <a:prstGeom prst="rect">
            <a:avLst/>
          </a:prstGeom>
          <a:solidFill>
            <a:srgbClr val="DCE5E1"/>
          </a:solidFill>
          <a:ln/>
        </p:spPr>
      </p:sp>
      <p:sp>
        <p:nvSpPr>
          <p:cNvPr id="20" name="Shape 18"/>
          <p:cNvSpPr/>
          <p:nvPr/>
        </p:nvSpPr>
        <p:spPr>
          <a:xfrm>
            <a:off x="777240" y="6446520"/>
            <a:ext cx="164592" cy="164592"/>
          </a:xfrm>
          <a:prstGeom prst="ellipse">
            <a:avLst/>
          </a:prstGeom>
          <a:solidFill>
            <a:srgbClr val="FFFFFF"/>
          </a:solidFill>
          <a:ln w="20320">
            <a:solidFill>
              <a:srgbClr val="0F8A5F"/>
            </a:solidFill>
            <a:prstDash val="solid"/>
          </a:ln>
        </p:spPr>
      </p:sp>
      <p:sp>
        <p:nvSpPr>
          <p:cNvPr id="21" name="Shape 19"/>
          <p:cNvSpPr/>
          <p:nvPr/>
        </p:nvSpPr>
        <p:spPr>
          <a:xfrm>
            <a:off x="834847" y="6504127"/>
            <a:ext cx="49378" cy="49378"/>
          </a:xfrm>
          <a:prstGeom prst="ellipse">
            <a:avLst/>
          </a:prstGeom>
          <a:solidFill>
            <a:srgbClr val="0F8A5F"/>
          </a:solidFill>
          <a:ln/>
        </p:spPr>
      </p:sp>
      <p:sp>
        <p:nvSpPr>
          <p:cNvPr id="22" name="Shape 20"/>
          <p:cNvSpPr/>
          <p:nvPr/>
        </p:nvSpPr>
        <p:spPr>
          <a:xfrm>
            <a:off x="903729" y="6456642"/>
            <a:ext cx="27981" cy="27981"/>
          </a:xfrm>
          <a:prstGeom prst="ellipse">
            <a:avLst/>
          </a:prstGeom>
          <a:solidFill>
            <a:srgbClr val="0F8A5F"/>
          </a:solidFill>
          <a:ln w="15240">
            <a:solidFill>
              <a:srgbClr val="FFFFFF"/>
            </a:solidFill>
            <a:prstDash val="solid"/>
          </a:ln>
        </p:spPr>
      </p:sp>
      <p:sp>
        <p:nvSpPr>
          <p:cNvPr id="23" name="Text 21"/>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24" name="Text 22"/>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The Agent and the Web</a:t>
            </a:r>
            <a:endParaRPr lang="en-US" sz="850" dirty="0"/>
          </a:p>
        </p:txBody>
      </p:sp>
      <p:sp>
        <p:nvSpPr>
          <p:cNvPr id="25" name="Text 23"/>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10 / 12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75488"/>
            <a:ext cx="10637215" cy="219456"/>
          </a:xfrm>
          <a:prstGeom prst="rect">
            <a:avLst/>
          </a:prstGeom>
          <a:noFill/>
          <a:ln/>
        </p:spPr>
        <p:txBody>
          <a:bodyPr wrap="square" rtlCol="0" anchor="ctr"/>
          <a:lstStyle/>
          <a:p>
            <a:pPr indent="0" marL="0">
              <a:buNone/>
            </a:pPr>
            <a:r>
              <a:rPr lang="en-US" sz="1000" b="1" dirty="0">
                <a:solidFill>
                  <a:srgbClr val="0F8A5F"/>
                </a:solidFill>
                <a:latin typeface="Consolas" pitchFamily="34" charset="0"/>
                <a:ea typeface="Consolas" pitchFamily="34" charset="-122"/>
                <a:cs typeface="Consolas" pitchFamily="34" charset="-120"/>
              </a:rPr>
              <a:t>ECOSYSTEM</a:t>
            </a:r>
            <a:endParaRPr lang="en-US" sz="1000" dirty="0"/>
          </a:p>
        </p:txBody>
      </p:sp>
      <p:sp>
        <p:nvSpPr>
          <p:cNvPr id="3" name="Text 1"/>
          <p:cNvSpPr/>
          <p:nvPr/>
        </p:nvSpPr>
        <p:spPr>
          <a:xfrm>
            <a:off x="777240" y="758952"/>
            <a:ext cx="10637215" cy="457200"/>
          </a:xfrm>
          <a:prstGeom prst="rect">
            <a:avLst/>
          </a:prstGeom>
          <a:noFill/>
          <a:ln/>
        </p:spPr>
        <p:txBody>
          <a:bodyPr wrap="square" rtlCol="0" anchor="ctr"/>
          <a:lstStyle/>
          <a:p>
            <a:pPr indent="0" marL="0">
              <a:buNone/>
            </a:pPr>
            <a:r>
              <a:rPr lang="en-US" sz="2700" dirty="0">
                <a:solidFill>
                  <a:srgbClr val="101917"/>
                </a:solidFill>
                <a:latin typeface="Segoe UI Semibold" pitchFamily="34" charset="0"/>
                <a:ea typeface="Segoe UI Semibold" pitchFamily="34" charset="-122"/>
                <a:cs typeface="Segoe UI Semibold" pitchFamily="34" charset="-120"/>
              </a:rPr>
              <a:t>Integrations and technology</a:t>
            </a:r>
            <a:endParaRPr lang="en-US" sz="2700" dirty="0"/>
          </a:p>
        </p:txBody>
      </p:sp>
      <p:sp>
        <p:nvSpPr>
          <p:cNvPr id="4" name="Text 2"/>
          <p:cNvSpPr/>
          <p:nvPr/>
        </p:nvSpPr>
        <p:spPr>
          <a:xfrm>
            <a:off x="777240" y="1298448"/>
            <a:ext cx="10637215" cy="457200"/>
          </a:xfrm>
          <a:prstGeom prst="rect">
            <a:avLst/>
          </a:prstGeom>
          <a:noFill/>
          <a:ln/>
        </p:spPr>
        <p:txBody>
          <a:bodyPr wrap="square" rtlCol="0" anchor="ctr"/>
          <a:lstStyle/>
          <a:p>
            <a:pPr indent="0" marL="0">
              <a:lnSpc>
                <a:spcPct val="120000"/>
              </a:lnSpc>
              <a:buNone/>
            </a:pPr>
            <a:r>
              <a:rPr lang="en-US" sz="1250" dirty="0">
                <a:solidFill>
                  <a:srgbClr val="55665F"/>
                </a:solidFill>
                <a:latin typeface="Segoe UI" pitchFamily="34" charset="0"/>
                <a:ea typeface="Segoe UI" pitchFamily="34" charset="-122"/>
                <a:cs typeface="Segoe UI" pitchFamily="34" charset="-120"/>
              </a:rPr>
              <a:t>Orbit connects to the systems teams already run, and is built on a deliberately small, modern stack.</a:t>
            </a:r>
            <a:endParaRPr lang="en-US" sz="1250" dirty="0"/>
          </a:p>
        </p:txBody>
      </p:sp>
      <p:sp>
        <p:nvSpPr>
          <p:cNvPr id="5" name="Shape 3"/>
          <p:cNvSpPr/>
          <p:nvPr/>
        </p:nvSpPr>
        <p:spPr>
          <a:xfrm>
            <a:off x="777240" y="2103120"/>
            <a:ext cx="6309360" cy="3511296"/>
          </a:xfrm>
          <a:prstGeom prst="rect">
            <a:avLst/>
          </a:prstGeom>
          <a:solidFill>
            <a:srgbClr val="FBFCFC"/>
          </a:solidFill>
          <a:ln w="12700">
            <a:solidFill>
              <a:srgbClr val="C6D4CE"/>
            </a:solidFill>
            <a:prstDash val="dash"/>
          </a:ln>
        </p:spPr>
      </p:sp>
      <p:sp>
        <p:nvSpPr>
          <p:cNvPr id="6" name="Text 4"/>
          <p:cNvSpPr/>
          <p:nvPr/>
        </p:nvSpPr>
        <p:spPr>
          <a:xfrm>
            <a:off x="777240" y="3529584"/>
            <a:ext cx="6309360" cy="237744"/>
          </a:xfrm>
          <a:prstGeom prst="rect">
            <a:avLst/>
          </a:prstGeom>
          <a:noFill/>
          <a:ln/>
        </p:spPr>
        <p:txBody>
          <a:bodyPr wrap="square" rtlCol="0" anchor="ctr"/>
          <a:lstStyle/>
          <a:p>
            <a:pPr algn="ctr" indent="0" marL="0">
              <a:buNone/>
            </a:pPr>
            <a:r>
              <a:rPr lang="en-US" sz="950" b="1" dirty="0">
                <a:solidFill>
                  <a:srgbClr val="9DAFA8"/>
                </a:solidFill>
                <a:latin typeface="Consolas" pitchFamily="34" charset="0"/>
                <a:ea typeface="Consolas" pitchFamily="34" charset="-122"/>
                <a:cs typeface="Consolas" pitchFamily="34" charset="-120"/>
              </a:rPr>
              <a:t>IMAGE PLACEHOLDER</a:t>
            </a:r>
            <a:endParaRPr lang="en-US" sz="950" dirty="0"/>
          </a:p>
        </p:txBody>
      </p:sp>
      <p:sp>
        <p:nvSpPr>
          <p:cNvPr id="7" name="Text 5"/>
          <p:cNvSpPr/>
          <p:nvPr/>
        </p:nvSpPr>
        <p:spPr>
          <a:xfrm>
            <a:off x="1143000" y="3803904"/>
            <a:ext cx="5577840" cy="457200"/>
          </a:xfrm>
          <a:prstGeom prst="rect">
            <a:avLst/>
          </a:prstGeom>
          <a:noFill/>
          <a:ln/>
        </p:spPr>
        <p:txBody>
          <a:bodyPr wrap="square" rtlCol="0" anchor="ctr"/>
          <a:lstStyle/>
          <a:p>
            <a:pPr algn="ctr" indent="0" marL="0">
              <a:lnSpc>
                <a:spcPct val="115000"/>
              </a:lnSpc>
              <a:buNone/>
            </a:pPr>
            <a:r>
              <a:rPr lang="en-US" sz="1100" dirty="0">
                <a:solidFill>
                  <a:srgbClr val="7C8F88"/>
                </a:solidFill>
                <a:latin typeface="Segoe UI" pitchFamily="34" charset="0"/>
                <a:ea typeface="Segoe UI" pitchFamily="34" charset="-122"/>
                <a:cs typeface="Segoe UI" pitchFamily="34" charset="-120"/>
              </a:rPr>
              <a:t>Logo grid: GitHub, GitLab, Azure DevOps, Zoho Sprints,</a:t>
            </a:r>
            <a:endParaRPr lang="en-US" sz="1100" dirty="0"/>
          </a:p>
          <a:p>
            <a:pPr algn="ctr" indent="0" marL="0">
              <a:lnSpc>
                <a:spcPct val="115000"/>
              </a:lnSpc>
              <a:buNone/>
            </a:pPr>
            <a:r>
              <a:rPr lang="en-US" sz="1100" dirty="0">
                <a:solidFill>
                  <a:srgbClr val="7C8F88"/>
                </a:solidFill>
                <a:latin typeface="Segoe UI" pitchFamily="34" charset="0"/>
                <a:ea typeface="Segoe UI" pitchFamily="34" charset="-122"/>
                <a:cs typeface="Segoe UI" pitchFamily="34" charset="-120"/>
              </a:rPr>
              <a:t>Sentry, Microsoft Teams, Gmail, AWS</a:t>
            </a:r>
            <a:endParaRPr lang="en-US" sz="1100" dirty="0"/>
          </a:p>
        </p:txBody>
      </p:sp>
      <p:sp>
        <p:nvSpPr>
          <p:cNvPr id="8" name="Text 6"/>
          <p:cNvSpPr/>
          <p:nvPr/>
        </p:nvSpPr>
        <p:spPr>
          <a:xfrm>
            <a:off x="7406640" y="2103120"/>
            <a:ext cx="4007815" cy="237744"/>
          </a:xfrm>
          <a:prstGeom prst="rect">
            <a:avLst/>
          </a:prstGeom>
          <a:noFill/>
          <a:ln/>
        </p:spPr>
        <p:txBody>
          <a:bodyPr wrap="square" rtlCol="0" anchor="ctr"/>
          <a:lstStyle/>
          <a:p>
            <a:pPr indent="0" marL="0">
              <a:buNone/>
            </a:pPr>
            <a:r>
              <a:rPr lang="en-US" sz="950" b="1" dirty="0">
                <a:solidFill>
                  <a:srgbClr val="0F8A5F"/>
                </a:solidFill>
                <a:latin typeface="Consolas" pitchFamily="34" charset="0"/>
                <a:ea typeface="Consolas" pitchFamily="34" charset="-122"/>
                <a:cs typeface="Consolas" pitchFamily="34" charset="-120"/>
              </a:rPr>
              <a:t>BUILT WITH</a:t>
            </a:r>
            <a:endParaRPr lang="en-US" sz="950" dirty="0"/>
          </a:p>
        </p:txBody>
      </p:sp>
      <p:sp>
        <p:nvSpPr>
          <p:cNvPr id="9" name="Shape 7"/>
          <p:cNvSpPr/>
          <p:nvPr/>
        </p:nvSpPr>
        <p:spPr>
          <a:xfrm>
            <a:off x="7406640" y="2450592"/>
            <a:ext cx="4007815" cy="694944"/>
          </a:xfrm>
          <a:prstGeom prst="rect">
            <a:avLst/>
          </a:prstGeom>
          <a:solidFill>
            <a:srgbClr val="F6F9F8"/>
          </a:solidFill>
          <a:ln w="9525">
            <a:solidFill>
              <a:srgbClr val="DCE5E1"/>
            </a:solidFill>
            <a:prstDash val="solid"/>
          </a:ln>
        </p:spPr>
      </p:sp>
      <p:sp>
        <p:nvSpPr>
          <p:cNvPr id="10" name="Shape 8"/>
          <p:cNvSpPr/>
          <p:nvPr/>
        </p:nvSpPr>
        <p:spPr>
          <a:xfrm>
            <a:off x="7406640" y="2450592"/>
            <a:ext cx="41148" cy="694944"/>
          </a:xfrm>
          <a:prstGeom prst="rect">
            <a:avLst/>
          </a:prstGeom>
          <a:solidFill>
            <a:srgbClr val="0F8A5F"/>
          </a:solidFill>
          <a:ln/>
        </p:spPr>
      </p:sp>
      <p:sp>
        <p:nvSpPr>
          <p:cNvPr id="11" name="Text 9"/>
          <p:cNvSpPr/>
          <p:nvPr/>
        </p:nvSpPr>
        <p:spPr>
          <a:xfrm>
            <a:off x="7607808" y="2542032"/>
            <a:ext cx="3642055" cy="237744"/>
          </a:xfrm>
          <a:prstGeom prst="rect">
            <a:avLst/>
          </a:prstGeom>
          <a:noFill/>
          <a:ln/>
        </p:spPr>
        <p:txBody>
          <a:bodyPr wrap="square" rtlCol="0" anchor="ctr"/>
          <a:lstStyle/>
          <a:p>
            <a:pPr indent="0" marL="0">
              <a:buNone/>
            </a:pPr>
            <a:r>
              <a:rPr lang="en-US" sz="1200" dirty="0">
                <a:solidFill>
                  <a:srgbClr val="101917"/>
                </a:solidFill>
                <a:latin typeface="Segoe UI Semibold" pitchFamily="34" charset="0"/>
                <a:ea typeface="Segoe UI Semibold" pitchFamily="34" charset="-122"/>
                <a:cs typeface="Segoe UI Semibold" pitchFamily="34" charset="-120"/>
              </a:rPr>
              <a:t>React and Vite</a:t>
            </a:r>
            <a:endParaRPr lang="en-US" sz="1200" dirty="0"/>
          </a:p>
        </p:txBody>
      </p:sp>
      <p:sp>
        <p:nvSpPr>
          <p:cNvPr id="12" name="Text 10"/>
          <p:cNvSpPr/>
          <p:nvPr/>
        </p:nvSpPr>
        <p:spPr>
          <a:xfrm>
            <a:off x="7607808" y="2798064"/>
            <a:ext cx="3642055" cy="237744"/>
          </a:xfrm>
          <a:prstGeom prst="rect">
            <a:avLst/>
          </a:prstGeom>
          <a:noFill/>
          <a:ln/>
        </p:spPr>
        <p:txBody>
          <a:bodyPr wrap="square" rtlCol="0" anchor="ctr"/>
          <a:lstStyle/>
          <a:p>
            <a:pPr indent="0" marL="0">
              <a:buNone/>
            </a:pPr>
            <a:r>
              <a:rPr lang="en-US" sz="1000" dirty="0">
                <a:solidFill>
                  <a:srgbClr val="55665F"/>
                </a:solidFill>
                <a:latin typeface="Segoe UI" pitchFamily="34" charset="0"/>
                <a:ea typeface="Segoe UI" pitchFamily="34" charset="-122"/>
                <a:cs typeface="Segoe UI" pitchFamily="34" charset="-120"/>
              </a:rPr>
              <a:t>Single-page control-room interface</a:t>
            </a:r>
            <a:endParaRPr lang="en-US" sz="1000" dirty="0"/>
          </a:p>
        </p:txBody>
      </p:sp>
      <p:sp>
        <p:nvSpPr>
          <p:cNvPr id="13" name="Shape 11"/>
          <p:cNvSpPr/>
          <p:nvPr/>
        </p:nvSpPr>
        <p:spPr>
          <a:xfrm>
            <a:off x="7406640" y="3273552"/>
            <a:ext cx="4007815" cy="694944"/>
          </a:xfrm>
          <a:prstGeom prst="rect">
            <a:avLst/>
          </a:prstGeom>
          <a:solidFill>
            <a:srgbClr val="F6F9F8"/>
          </a:solidFill>
          <a:ln w="9525">
            <a:solidFill>
              <a:srgbClr val="DCE5E1"/>
            </a:solidFill>
            <a:prstDash val="solid"/>
          </a:ln>
        </p:spPr>
      </p:sp>
      <p:sp>
        <p:nvSpPr>
          <p:cNvPr id="14" name="Shape 12"/>
          <p:cNvSpPr/>
          <p:nvPr/>
        </p:nvSpPr>
        <p:spPr>
          <a:xfrm>
            <a:off x="7406640" y="3273552"/>
            <a:ext cx="41148" cy="694944"/>
          </a:xfrm>
          <a:prstGeom prst="rect">
            <a:avLst/>
          </a:prstGeom>
          <a:solidFill>
            <a:srgbClr val="0F8A5F"/>
          </a:solidFill>
          <a:ln/>
        </p:spPr>
      </p:sp>
      <p:sp>
        <p:nvSpPr>
          <p:cNvPr id="15" name="Text 13"/>
          <p:cNvSpPr/>
          <p:nvPr/>
        </p:nvSpPr>
        <p:spPr>
          <a:xfrm>
            <a:off x="7607808" y="3364992"/>
            <a:ext cx="3642055" cy="237744"/>
          </a:xfrm>
          <a:prstGeom prst="rect">
            <a:avLst/>
          </a:prstGeom>
          <a:noFill/>
          <a:ln/>
        </p:spPr>
        <p:txBody>
          <a:bodyPr wrap="square" rtlCol="0" anchor="ctr"/>
          <a:lstStyle/>
          <a:p>
            <a:pPr indent="0" marL="0">
              <a:buNone/>
            </a:pPr>
            <a:r>
              <a:rPr lang="en-US" sz="1200" dirty="0">
                <a:solidFill>
                  <a:srgbClr val="101917"/>
                </a:solidFill>
                <a:latin typeface="Segoe UI Semibold" pitchFamily="34" charset="0"/>
                <a:ea typeface="Segoe UI Semibold" pitchFamily="34" charset="-122"/>
                <a:cs typeface="Segoe UI Semibold" pitchFamily="34" charset="-120"/>
              </a:rPr>
              <a:t>TypeScript</a:t>
            </a:r>
            <a:endParaRPr lang="en-US" sz="1200" dirty="0"/>
          </a:p>
        </p:txBody>
      </p:sp>
      <p:sp>
        <p:nvSpPr>
          <p:cNvPr id="16" name="Text 14"/>
          <p:cNvSpPr/>
          <p:nvPr/>
        </p:nvSpPr>
        <p:spPr>
          <a:xfrm>
            <a:off x="7607808" y="3621024"/>
            <a:ext cx="3642055" cy="237744"/>
          </a:xfrm>
          <a:prstGeom prst="rect">
            <a:avLst/>
          </a:prstGeom>
          <a:noFill/>
          <a:ln/>
        </p:spPr>
        <p:txBody>
          <a:bodyPr wrap="square" rtlCol="0" anchor="ctr"/>
          <a:lstStyle/>
          <a:p>
            <a:pPr indent="0" marL="0">
              <a:buNone/>
            </a:pPr>
            <a:r>
              <a:rPr lang="en-US" sz="1000" dirty="0">
                <a:solidFill>
                  <a:srgbClr val="55665F"/>
                </a:solidFill>
                <a:latin typeface="Segoe UI" pitchFamily="34" charset="0"/>
                <a:ea typeface="Segoe UI" pitchFamily="34" charset="-122"/>
                <a:cs typeface="Segoe UI" pitchFamily="34" charset="-120"/>
              </a:rPr>
              <a:t>End to end, engines included</a:t>
            </a:r>
            <a:endParaRPr lang="en-US" sz="1000" dirty="0"/>
          </a:p>
        </p:txBody>
      </p:sp>
      <p:sp>
        <p:nvSpPr>
          <p:cNvPr id="17" name="Shape 15"/>
          <p:cNvSpPr/>
          <p:nvPr/>
        </p:nvSpPr>
        <p:spPr>
          <a:xfrm>
            <a:off x="7406640" y="4096512"/>
            <a:ext cx="4007815" cy="694944"/>
          </a:xfrm>
          <a:prstGeom prst="rect">
            <a:avLst/>
          </a:prstGeom>
          <a:solidFill>
            <a:srgbClr val="F6F9F8"/>
          </a:solidFill>
          <a:ln w="9525">
            <a:solidFill>
              <a:srgbClr val="DCE5E1"/>
            </a:solidFill>
            <a:prstDash val="solid"/>
          </a:ln>
        </p:spPr>
      </p:sp>
      <p:sp>
        <p:nvSpPr>
          <p:cNvPr id="18" name="Shape 16"/>
          <p:cNvSpPr/>
          <p:nvPr/>
        </p:nvSpPr>
        <p:spPr>
          <a:xfrm>
            <a:off x="7406640" y="4096512"/>
            <a:ext cx="41148" cy="694944"/>
          </a:xfrm>
          <a:prstGeom prst="rect">
            <a:avLst/>
          </a:prstGeom>
          <a:solidFill>
            <a:srgbClr val="0F8A5F"/>
          </a:solidFill>
          <a:ln/>
        </p:spPr>
      </p:sp>
      <p:sp>
        <p:nvSpPr>
          <p:cNvPr id="19" name="Text 17"/>
          <p:cNvSpPr/>
          <p:nvPr/>
        </p:nvSpPr>
        <p:spPr>
          <a:xfrm>
            <a:off x="7607808" y="4187952"/>
            <a:ext cx="3642055" cy="237744"/>
          </a:xfrm>
          <a:prstGeom prst="rect">
            <a:avLst/>
          </a:prstGeom>
          <a:noFill/>
          <a:ln/>
        </p:spPr>
        <p:txBody>
          <a:bodyPr wrap="square" rtlCol="0" anchor="ctr"/>
          <a:lstStyle/>
          <a:p>
            <a:pPr indent="0" marL="0">
              <a:buNone/>
            </a:pPr>
            <a:r>
              <a:rPr lang="en-US" sz="1200" dirty="0">
                <a:solidFill>
                  <a:srgbClr val="101917"/>
                </a:solidFill>
                <a:latin typeface="Segoe UI Semibold" pitchFamily="34" charset="0"/>
                <a:ea typeface="Segoe UI Semibold" pitchFamily="34" charset="-122"/>
                <a:cs typeface="Segoe UI Semibold" pitchFamily="34" charset="-120"/>
              </a:rPr>
              <a:t>Supabase</a:t>
            </a:r>
            <a:endParaRPr lang="en-US" sz="1200" dirty="0"/>
          </a:p>
        </p:txBody>
      </p:sp>
      <p:sp>
        <p:nvSpPr>
          <p:cNvPr id="20" name="Text 18"/>
          <p:cNvSpPr/>
          <p:nvPr/>
        </p:nvSpPr>
        <p:spPr>
          <a:xfrm>
            <a:off x="7607808" y="4443984"/>
            <a:ext cx="3642055" cy="237744"/>
          </a:xfrm>
          <a:prstGeom prst="rect">
            <a:avLst/>
          </a:prstGeom>
          <a:noFill/>
          <a:ln/>
        </p:spPr>
        <p:txBody>
          <a:bodyPr wrap="square" rtlCol="0" anchor="ctr"/>
          <a:lstStyle/>
          <a:p>
            <a:pPr indent="0" marL="0">
              <a:buNone/>
            </a:pPr>
            <a:r>
              <a:rPr lang="en-US" sz="1000" dirty="0">
                <a:solidFill>
                  <a:srgbClr val="55665F"/>
                </a:solidFill>
                <a:latin typeface="Segoe UI" pitchFamily="34" charset="0"/>
                <a:ea typeface="Segoe UI" pitchFamily="34" charset="-122"/>
                <a:cs typeface="Segoe UI" pitchFamily="34" charset="-120"/>
              </a:rPr>
              <a:t>Postgres, auth and realtime</a:t>
            </a:r>
            <a:endParaRPr lang="en-US" sz="1000" dirty="0"/>
          </a:p>
        </p:txBody>
      </p:sp>
      <p:sp>
        <p:nvSpPr>
          <p:cNvPr id="21" name="Shape 19"/>
          <p:cNvSpPr/>
          <p:nvPr/>
        </p:nvSpPr>
        <p:spPr>
          <a:xfrm>
            <a:off x="7406640" y="4919472"/>
            <a:ext cx="4007815" cy="694944"/>
          </a:xfrm>
          <a:prstGeom prst="rect">
            <a:avLst/>
          </a:prstGeom>
          <a:solidFill>
            <a:srgbClr val="F6F9F8"/>
          </a:solidFill>
          <a:ln w="9525">
            <a:solidFill>
              <a:srgbClr val="DCE5E1"/>
            </a:solidFill>
            <a:prstDash val="solid"/>
          </a:ln>
        </p:spPr>
      </p:sp>
      <p:sp>
        <p:nvSpPr>
          <p:cNvPr id="22" name="Shape 20"/>
          <p:cNvSpPr/>
          <p:nvPr/>
        </p:nvSpPr>
        <p:spPr>
          <a:xfrm>
            <a:off x="7406640" y="4919472"/>
            <a:ext cx="41148" cy="694944"/>
          </a:xfrm>
          <a:prstGeom prst="rect">
            <a:avLst/>
          </a:prstGeom>
          <a:solidFill>
            <a:srgbClr val="0F8A5F"/>
          </a:solidFill>
          <a:ln/>
        </p:spPr>
      </p:sp>
      <p:sp>
        <p:nvSpPr>
          <p:cNvPr id="23" name="Text 21"/>
          <p:cNvSpPr/>
          <p:nvPr/>
        </p:nvSpPr>
        <p:spPr>
          <a:xfrm>
            <a:off x="7607808" y="5010912"/>
            <a:ext cx="3642055" cy="237744"/>
          </a:xfrm>
          <a:prstGeom prst="rect">
            <a:avLst/>
          </a:prstGeom>
          <a:noFill/>
          <a:ln/>
        </p:spPr>
        <p:txBody>
          <a:bodyPr wrap="square" rtlCol="0" anchor="ctr"/>
          <a:lstStyle/>
          <a:p>
            <a:pPr indent="0" marL="0">
              <a:buNone/>
            </a:pPr>
            <a:r>
              <a:rPr lang="en-US" sz="1200" dirty="0">
                <a:solidFill>
                  <a:srgbClr val="101917"/>
                </a:solidFill>
                <a:latin typeface="Segoe UI Semibold" pitchFamily="34" charset="0"/>
                <a:ea typeface="Segoe UI Semibold" pitchFamily="34" charset="-122"/>
                <a:cs typeface="Segoe UI Semibold" pitchFamily="34" charset="-120"/>
              </a:rPr>
              <a:t>Netlify Functions</a:t>
            </a:r>
            <a:endParaRPr lang="en-US" sz="1200" dirty="0"/>
          </a:p>
        </p:txBody>
      </p:sp>
      <p:sp>
        <p:nvSpPr>
          <p:cNvPr id="24" name="Text 22"/>
          <p:cNvSpPr/>
          <p:nvPr/>
        </p:nvSpPr>
        <p:spPr>
          <a:xfrm>
            <a:off x="7607808" y="5266944"/>
            <a:ext cx="3642055" cy="237744"/>
          </a:xfrm>
          <a:prstGeom prst="rect">
            <a:avLst/>
          </a:prstGeom>
          <a:noFill/>
          <a:ln/>
        </p:spPr>
        <p:txBody>
          <a:bodyPr wrap="square" rtlCol="0" anchor="ctr"/>
          <a:lstStyle/>
          <a:p>
            <a:pPr indent="0" marL="0">
              <a:buNone/>
            </a:pPr>
            <a:r>
              <a:rPr lang="en-US" sz="1000" dirty="0">
                <a:solidFill>
                  <a:srgbClr val="55665F"/>
                </a:solidFill>
                <a:latin typeface="Segoe UI" pitchFamily="34" charset="0"/>
                <a:ea typeface="Segoe UI" pitchFamily="34" charset="-122"/>
                <a:cs typeface="Segoe UI" pitchFamily="34" charset="-120"/>
              </a:rPr>
              <a:t>Serverless API and scheduled jobs</a:t>
            </a:r>
            <a:endParaRPr lang="en-US" sz="1000" dirty="0"/>
          </a:p>
        </p:txBody>
      </p:sp>
      <p:sp>
        <p:nvSpPr>
          <p:cNvPr id="25" name="Shape 23"/>
          <p:cNvSpPr/>
          <p:nvPr/>
        </p:nvSpPr>
        <p:spPr>
          <a:xfrm>
            <a:off x="777240" y="6327648"/>
            <a:ext cx="10637215" cy="10973"/>
          </a:xfrm>
          <a:prstGeom prst="rect">
            <a:avLst/>
          </a:prstGeom>
          <a:solidFill>
            <a:srgbClr val="DCE5E1"/>
          </a:solidFill>
          <a:ln/>
        </p:spPr>
      </p:sp>
      <p:sp>
        <p:nvSpPr>
          <p:cNvPr id="26" name="Shape 24"/>
          <p:cNvSpPr/>
          <p:nvPr/>
        </p:nvSpPr>
        <p:spPr>
          <a:xfrm>
            <a:off x="777240" y="6446520"/>
            <a:ext cx="164592" cy="164592"/>
          </a:xfrm>
          <a:prstGeom prst="ellipse">
            <a:avLst/>
          </a:prstGeom>
          <a:solidFill>
            <a:srgbClr val="FFFFFF"/>
          </a:solidFill>
          <a:ln w="20320">
            <a:solidFill>
              <a:srgbClr val="0F8A5F"/>
            </a:solidFill>
            <a:prstDash val="solid"/>
          </a:ln>
        </p:spPr>
      </p:sp>
      <p:sp>
        <p:nvSpPr>
          <p:cNvPr id="27" name="Shape 25"/>
          <p:cNvSpPr/>
          <p:nvPr/>
        </p:nvSpPr>
        <p:spPr>
          <a:xfrm>
            <a:off x="834847" y="6504127"/>
            <a:ext cx="49378" cy="49378"/>
          </a:xfrm>
          <a:prstGeom prst="ellipse">
            <a:avLst/>
          </a:prstGeom>
          <a:solidFill>
            <a:srgbClr val="0F8A5F"/>
          </a:solidFill>
          <a:ln/>
        </p:spPr>
      </p:sp>
      <p:sp>
        <p:nvSpPr>
          <p:cNvPr id="28" name="Shape 26"/>
          <p:cNvSpPr/>
          <p:nvPr/>
        </p:nvSpPr>
        <p:spPr>
          <a:xfrm>
            <a:off x="903729" y="6456642"/>
            <a:ext cx="27981" cy="27981"/>
          </a:xfrm>
          <a:prstGeom prst="ellipse">
            <a:avLst/>
          </a:prstGeom>
          <a:solidFill>
            <a:srgbClr val="0F8A5F"/>
          </a:solidFill>
          <a:ln w="15240">
            <a:solidFill>
              <a:srgbClr val="FFFFFF"/>
            </a:solidFill>
            <a:prstDash val="solid"/>
          </a:ln>
        </p:spPr>
      </p:sp>
      <p:sp>
        <p:nvSpPr>
          <p:cNvPr id="29" name="Text 27"/>
          <p:cNvSpPr/>
          <p:nvPr/>
        </p:nvSpPr>
        <p:spPr>
          <a:xfrm>
            <a:off x="1014984" y="6400800"/>
            <a:ext cx="2377440" cy="256032"/>
          </a:xfrm>
          <a:prstGeom prst="rect">
            <a:avLst/>
          </a:prstGeom>
          <a:noFill/>
          <a:ln/>
        </p:spPr>
        <p:txBody>
          <a:bodyPr wrap="square" rtlCol="0" anchor="ctr"/>
          <a:lstStyle/>
          <a:p>
            <a:pPr indent="0" marL="0">
              <a:buNone/>
            </a:pPr>
            <a:r>
              <a:rPr lang="en-US" sz="850" dirty="0">
                <a:solidFill>
                  <a:srgbClr val="93A59E"/>
                </a:solidFill>
                <a:latin typeface="Consolas" pitchFamily="34" charset="0"/>
                <a:ea typeface="Consolas" pitchFamily="34" charset="-122"/>
                <a:cs typeface="Consolas" pitchFamily="34" charset="-120"/>
              </a:rPr>
              <a:t>ORBIT</a:t>
            </a:r>
            <a:endParaRPr lang="en-US" sz="850" dirty="0"/>
          </a:p>
        </p:txBody>
      </p:sp>
      <p:sp>
        <p:nvSpPr>
          <p:cNvPr id="30" name="Text 28"/>
          <p:cNvSpPr/>
          <p:nvPr/>
        </p:nvSpPr>
        <p:spPr>
          <a:xfrm>
            <a:off x="1783080" y="6400800"/>
            <a:ext cx="6400800" cy="256032"/>
          </a:xfrm>
          <a:prstGeom prst="rect">
            <a:avLst/>
          </a:prstGeom>
          <a:noFill/>
          <a:ln/>
        </p:spPr>
        <p:txBody>
          <a:bodyPr wrap="square" rtlCol="0" anchor="ctr"/>
          <a:lstStyle/>
          <a:p>
            <a:pPr indent="0" marL="0">
              <a:buNone/>
            </a:pPr>
            <a:r>
              <a:rPr lang="en-US" sz="850" dirty="0">
                <a:solidFill>
                  <a:srgbClr val="93A59E"/>
                </a:solidFill>
                <a:latin typeface="Segoe UI" pitchFamily="34" charset="0"/>
                <a:ea typeface="Segoe UI" pitchFamily="34" charset="-122"/>
                <a:cs typeface="Segoe UI" pitchFamily="34" charset="-120"/>
              </a:rPr>
              <a:t>Integrations and technology</a:t>
            </a:r>
            <a:endParaRPr lang="en-US" sz="850" dirty="0"/>
          </a:p>
        </p:txBody>
      </p:sp>
      <p:sp>
        <p:nvSpPr>
          <p:cNvPr id="31" name="Text 29"/>
          <p:cNvSpPr/>
          <p:nvPr/>
        </p:nvSpPr>
        <p:spPr>
          <a:xfrm>
            <a:off x="10317175" y="6400800"/>
            <a:ext cx="1097280" cy="256032"/>
          </a:xfrm>
          <a:prstGeom prst="rect">
            <a:avLst/>
          </a:prstGeom>
          <a:noFill/>
          <a:ln/>
        </p:spPr>
        <p:txBody>
          <a:bodyPr wrap="square" rtlCol="0" anchor="ctr"/>
          <a:lstStyle/>
          <a:p>
            <a:pPr algn="r" indent="0" marL="0">
              <a:buNone/>
            </a:pPr>
            <a:r>
              <a:rPr lang="en-US" sz="850" dirty="0">
                <a:solidFill>
                  <a:srgbClr val="93A59E"/>
                </a:solidFill>
                <a:latin typeface="Consolas" pitchFamily="34" charset="0"/>
                <a:ea typeface="Consolas" pitchFamily="34" charset="-122"/>
                <a:cs typeface="Consolas" pitchFamily="34" charset="-120"/>
              </a:rPr>
              <a:t>11 / 12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211"/>
        </a:solidFill>
      </p:bgPr>
    </p:bg>
    <p:spTree>
      <p:nvGrpSpPr>
        <p:cNvPr id="1" name=""/>
        <p:cNvGrpSpPr/>
        <p:nvPr/>
      </p:nvGrpSpPr>
      <p:grpSpPr>
        <a:xfrm>
          <a:off x="0" y="0"/>
          <a:ext cx="0" cy="0"/>
          <a:chOff x="0" y="0"/>
          <a:chExt cx="0" cy="0"/>
        </a:xfrm>
      </p:grpSpPr>
      <p:sp>
        <p:nvSpPr>
          <p:cNvPr id="2" name="Shape 0"/>
          <p:cNvSpPr/>
          <p:nvPr/>
        </p:nvSpPr>
        <p:spPr>
          <a:xfrm>
            <a:off x="5720944" y="1408176"/>
            <a:ext cx="749808" cy="749808"/>
          </a:xfrm>
          <a:prstGeom prst="ellipse">
            <a:avLst/>
          </a:prstGeom>
          <a:solidFill>
            <a:srgbClr val="0C1211"/>
          </a:solidFill>
          <a:ln w="20320">
            <a:solidFill>
              <a:srgbClr val="3ADFA2"/>
            </a:solidFill>
            <a:prstDash val="solid"/>
          </a:ln>
        </p:spPr>
      </p:sp>
      <p:sp>
        <p:nvSpPr>
          <p:cNvPr id="3" name="Shape 1"/>
          <p:cNvSpPr/>
          <p:nvPr/>
        </p:nvSpPr>
        <p:spPr>
          <a:xfrm>
            <a:off x="5983376" y="1670609"/>
            <a:ext cx="224942" cy="224942"/>
          </a:xfrm>
          <a:prstGeom prst="ellipse">
            <a:avLst/>
          </a:prstGeom>
          <a:solidFill>
            <a:srgbClr val="3ADFA2"/>
          </a:solidFill>
          <a:ln/>
        </p:spPr>
      </p:sp>
      <p:sp>
        <p:nvSpPr>
          <p:cNvPr id="4" name="Shape 2"/>
          <p:cNvSpPr/>
          <p:nvPr/>
        </p:nvSpPr>
        <p:spPr>
          <a:xfrm>
            <a:off x="6297171" y="1454289"/>
            <a:ext cx="127467" cy="127467"/>
          </a:xfrm>
          <a:prstGeom prst="ellipse">
            <a:avLst/>
          </a:prstGeom>
          <a:solidFill>
            <a:srgbClr val="3ADFA2"/>
          </a:solidFill>
          <a:ln w="15240">
            <a:solidFill>
              <a:srgbClr val="0C1211"/>
            </a:solidFill>
            <a:prstDash val="solid"/>
          </a:ln>
        </p:spPr>
      </p:sp>
      <p:sp>
        <p:nvSpPr>
          <p:cNvPr id="5" name="Text 3"/>
          <p:cNvSpPr/>
          <p:nvPr/>
        </p:nvSpPr>
        <p:spPr>
          <a:xfrm>
            <a:off x="0" y="2395728"/>
            <a:ext cx="12191695" cy="475488"/>
          </a:xfrm>
          <a:prstGeom prst="rect">
            <a:avLst/>
          </a:prstGeom>
          <a:noFill/>
          <a:ln/>
        </p:spPr>
        <p:txBody>
          <a:bodyPr wrap="square" rtlCol="0" anchor="ctr"/>
          <a:lstStyle/>
          <a:p>
            <a:pPr algn="ctr" indent="0" marL="0">
              <a:buNone/>
            </a:pPr>
            <a:r>
              <a:rPr lang="en-US" sz="2600" dirty="0">
                <a:solidFill>
                  <a:srgbClr val="FFFFFF"/>
                </a:solidFill>
                <a:latin typeface="Segoe UI Semibold" pitchFamily="34" charset="0"/>
                <a:ea typeface="Segoe UI Semibold" pitchFamily="34" charset="-122"/>
                <a:cs typeface="Segoe UI Semibold" pitchFamily="34" charset="-120"/>
              </a:rPr>
              <a:t>Where Orbit is headed</a:t>
            </a:r>
            <a:endParaRPr lang="en-US" sz="2600" dirty="0"/>
          </a:p>
        </p:txBody>
      </p:sp>
      <p:sp>
        <p:nvSpPr>
          <p:cNvPr id="6" name="Shape 4"/>
          <p:cNvSpPr/>
          <p:nvPr/>
        </p:nvSpPr>
        <p:spPr>
          <a:xfrm>
            <a:off x="5547208" y="2962656"/>
            <a:ext cx="1097280" cy="25603"/>
          </a:xfrm>
          <a:prstGeom prst="rect">
            <a:avLst/>
          </a:prstGeom>
          <a:solidFill>
            <a:srgbClr val="3ADFA2"/>
          </a:solidFill>
          <a:ln/>
        </p:spPr>
      </p:sp>
      <p:sp>
        <p:nvSpPr>
          <p:cNvPr id="7" name="Text 5"/>
          <p:cNvSpPr/>
          <p:nvPr/>
        </p:nvSpPr>
        <p:spPr>
          <a:xfrm>
            <a:off x="1463040" y="3200400"/>
            <a:ext cx="9265615" cy="822960"/>
          </a:xfrm>
          <a:prstGeom prst="rect">
            <a:avLst/>
          </a:prstGeom>
          <a:noFill/>
          <a:ln/>
        </p:spPr>
        <p:txBody>
          <a:bodyPr wrap="square" rtlCol="0" anchor="ctr"/>
          <a:lstStyle/>
          <a:p>
            <a:pPr algn="ctr" indent="0" marL="0">
              <a:lnSpc>
                <a:spcPct val="135000"/>
              </a:lnSpc>
              <a:buNone/>
            </a:pPr>
            <a:r>
              <a:rPr lang="en-US" sz="1400" dirty="0">
                <a:solidFill>
                  <a:srgbClr val="9FB2AB"/>
                </a:solidFill>
                <a:latin typeface="Segoe UI" pitchFamily="34" charset="0"/>
                <a:ea typeface="Segoe UI" pitchFamily="34" charset="-122"/>
                <a:cs typeface="Segoe UI" pitchFamily="34" charset="-120"/>
              </a:rPr>
              <a:t>An AI-native engineering operating system, where planning, code and communication</a:t>
            </a:r>
            <a:endParaRPr lang="en-US" sz="1400" dirty="0"/>
          </a:p>
          <a:p>
            <a:pPr algn="ctr" indent="0" marL="0">
              <a:lnSpc>
                <a:spcPct val="135000"/>
              </a:lnSpc>
              <a:buNone/>
            </a:pPr>
            <a:r>
              <a:rPr lang="en-US" sz="1400" dirty="0">
                <a:solidFill>
                  <a:srgbClr val="9FB2AB"/>
                </a:solidFill>
                <a:latin typeface="Segoe UI" pitchFamily="34" charset="0"/>
                <a:ea typeface="Segoe UI" pitchFamily="34" charset="-122"/>
                <a:cs typeface="Segoe UI" pitchFamily="34" charset="-120"/>
              </a:rPr>
              <a:t>are understood by one shared knowledge graph and acted on before you have to ask.</a:t>
            </a:r>
            <a:endParaRPr lang="en-US" sz="1400" dirty="0"/>
          </a:p>
        </p:txBody>
      </p:sp>
      <p:sp>
        <p:nvSpPr>
          <p:cNvPr id="8" name="Text 6"/>
          <p:cNvSpPr/>
          <p:nvPr/>
        </p:nvSpPr>
        <p:spPr>
          <a:xfrm>
            <a:off x="0" y="4315968"/>
            <a:ext cx="12191695" cy="457200"/>
          </a:xfrm>
          <a:prstGeom prst="rect">
            <a:avLst/>
          </a:prstGeom>
          <a:noFill/>
          <a:ln/>
        </p:spPr>
        <p:txBody>
          <a:bodyPr wrap="square" rtlCol="0" anchor="ctr"/>
          <a:lstStyle/>
          <a:p>
            <a:pPr algn="ctr" indent="0" marL="0">
              <a:buNone/>
            </a:pPr>
            <a:r>
              <a:rPr lang="en-US" sz="2000" dirty="0">
                <a:solidFill>
                  <a:srgbClr val="3ADFA2"/>
                </a:solidFill>
                <a:latin typeface="Segoe UI Semibold" pitchFamily="34" charset="0"/>
                <a:ea typeface="Segoe UI Semibold" pitchFamily="34" charset="-122"/>
                <a:cs typeface="Segoe UI Semibold" pitchFamily="34" charset="-120"/>
              </a:rPr>
              <a:t>Thank you</a:t>
            </a:r>
            <a:endParaRPr lang="en-US" sz="2000" dirty="0"/>
          </a:p>
        </p:txBody>
      </p:sp>
      <p:sp>
        <p:nvSpPr>
          <p:cNvPr id="9" name="Shape 7"/>
          <p:cNvSpPr/>
          <p:nvPr/>
        </p:nvSpPr>
        <p:spPr>
          <a:xfrm>
            <a:off x="4404208" y="4956048"/>
            <a:ext cx="3383280" cy="868680"/>
          </a:xfrm>
          <a:prstGeom prst="rect">
            <a:avLst/>
          </a:prstGeom>
          <a:solidFill>
            <a:srgbClr val="16211E"/>
          </a:solidFill>
          <a:ln w="12700">
            <a:solidFill>
              <a:srgbClr val="31423B"/>
            </a:solidFill>
            <a:prstDash val="dash"/>
          </a:ln>
        </p:spPr>
      </p:sp>
      <p:sp>
        <p:nvSpPr>
          <p:cNvPr id="10" name="Text 8"/>
          <p:cNvSpPr/>
          <p:nvPr/>
        </p:nvSpPr>
        <p:spPr>
          <a:xfrm>
            <a:off x="4404208" y="4956048"/>
            <a:ext cx="3383280" cy="868680"/>
          </a:xfrm>
          <a:prstGeom prst="rect">
            <a:avLst/>
          </a:prstGeom>
          <a:noFill/>
          <a:ln/>
        </p:spPr>
        <p:txBody>
          <a:bodyPr wrap="square" rtlCol="0" anchor="ctr"/>
          <a:lstStyle/>
          <a:p>
            <a:pPr algn="ctr" indent="0" marL="0">
              <a:buNone/>
            </a:pPr>
            <a:r>
              <a:rPr lang="en-US" sz="1050" dirty="0">
                <a:solidFill>
                  <a:srgbClr val="6C807A"/>
                </a:solidFill>
                <a:latin typeface="Segoe UI" pitchFamily="34" charset="0"/>
                <a:ea typeface="Segoe UI" pitchFamily="34" charset="-122"/>
                <a:cs typeface="Segoe UI" pitchFamily="34" charset="-120"/>
              </a:rPr>
              <a:t>Space for contact details or QR code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Orbit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 - Product &amp; Architecture Overview</dc:title>
  <dc:subject>PptxGenJS Presentation</dc:subject>
  <dc:creator>Orbit</dc:creator>
  <cp:lastModifiedBy>Orbit</cp:lastModifiedBy>
  <cp:revision>1</cp:revision>
  <dcterms:created xsi:type="dcterms:W3CDTF">2026-07-22T17:51:19Z</dcterms:created>
  <dcterms:modified xsi:type="dcterms:W3CDTF">2026-07-22T17:51:19Z</dcterms:modified>
</cp:coreProperties>
</file>